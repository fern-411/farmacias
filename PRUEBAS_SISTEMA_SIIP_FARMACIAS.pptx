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D100"/>
                </a:solidFill>
              </a:defRPr>
            </a:pPr>
            <a:r>
              <a:rPr dirty="0"/>
              <a:t>UNIVERSIDAD TECNOLÓGICA DEL PERÚ (UTP) • PROYECTO INTEGRADOR 2026</a:t>
            </a:r>
          </a:p>
          <a:p>
            <a:pPr>
              <a:spcBef>
                <a:spcPts val="1600"/>
              </a:spcBef>
              <a:defRPr sz="3600" b="1">
                <a:solidFill>
                  <a:srgbClr val="FFFFFF"/>
                </a:solidFill>
              </a:defRPr>
            </a:pPr>
            <a:r>
              <a:rPr dirty="0"/>
              <a:t>EVIDENCIAS Y PRUEBAS DEL SISTEMA SIIP</a:t>
            </a:r>
          </a:p>
          <a:p>
            <a:pPr>
              <a:spcBef>
                <a:spcPts val="800"/>
              </a:spcBef>
              <a:defRPr sz="2000">
                <a:solidFill>
                  <a:srgbClr val="E0E7FF"/>
                </a:solidFill>
              </a:defRPr>
            </a:pPr>
            <a:r>
              <a:rPr dirty="0"/>
              <a:t>Sistema </a:t>
            </a:r>
            <a:r>
              <a:rPr dirty="0" err="1"/>
              <a:t>Inteligente</a:t>
            </a:r>
            <a:r>
              <a:rPr dirty="0"/>
              <a:t> de </a:t>
            </a:r>
            <a:r>
              <a:rPr dirty="0" err="1"/>
              <a:t>Inventario</a:t>
            </a:r>
            <a:r>
              <a:rPr dirty="0"/>
              <a:t> y </a:t>
            </a:r>
            <a:r>
              <a:rPr dirty="0" err="1"/>
              <a:t>Predicción</a:t>
            </a:r>
            <a:r>
              <a:rPr dirty="0"/>
              <a:t> de </a:t>
            </a:r>
            <a:r>
              <a:rPr dirty="0" err="1"/>
              <a:t>Demanda</a:t>
            </a:r>
            <a:r>
              <a:rPr dirty="0"/>
              <a:t> </a:t>
            </a:r>
            <a:r>
              <a:rPr dirty="0" err="1"/>
              <a:t>Farmacéutica</a:t>
            </a:r>
            <a:endParaRPr dirty="0"/>
          </a:p>
          <a:p>
            <a:pPr>
              <a:spcBef>
                <a:spcPts val="600"/>
              </a:spcBef>
              <a:defRPr sz="1500" i="1">
                <a:solidFill>
                  <a:srgbClr val="94A3B8"/>
                </a:solidFill>
              </a:defRPr>
            </a:pPr>
            <a:r>
              <a:rPr dirty="0" err="1"/>
              <a:t>Demostración</a:t>
            </a:r>
            <a:r>
              <a:rPr dirty="0"/>
              <a:t> </a:t>
            </a:r>
            <a:r>
              <a:rPr dirty="0" err="1"/>
              <a:t>Funcional</a:t>
            </a:r>
            <a:r>
              <a:rPr dirty="0"/>
              <a:t> de </a:t>
            </a:r>
            <a:r>
              <a:rPr dirty="0" err="1"/>
              <a:t>Pantallas</a:t>
            </a:r>
            <a:r>
              <a:rPr dirty="0"/>
              <a:t> </a:t>
            </a:r>
            <a:r>
              <a:rPr dirty="0" err="1"/>
              <a:t>Críticas</a:t>
            </a:r>
            <a:r>
              <a:rPr dirty="0"/>
              <a:t> y Casos de </a:t>
            </a:r>
            <a:r>
              <a:rPr dirty="0" err="1"/>
              <a:t>Uso</a:t>
            </a:r>
            <a:r>
              <a:rPr dirty="0"/>
              <a:t> (CU01 - CU05)</a:t>
            </a:r>
          </a:p>
          <a:p>
            <a:br>
              <a:rPr dirty="0"/>
            </a:br>
            <a:r>
              <a:rPr dirty="0"/>
              <a:t>• </a:t>
            </a:r>
            <a:r>
              <a:rPr lang="es-ES" dirty="0"/>
              <a:t>Integrantes</a:t>
            </a:r>
            <a:r>
              <a:rPr dirty="0"/>
              <a:t>: </a:t>
            </a:r>
            <a:br>
              <a:rPr lang="es-ES" dirty="0"/>
            </a:br>
            <a:r>
              <a:rPr lang="es-ES" dirty="0"/>
              <a:t>   	- </a:t>
            </a:r>
            <a:r>
              <a:rPr dirty="0"/>
              <a:t>Ronny Fernando Mendoza </a:t>
            </a:r>
            <a:r>
              <a:rPr dirty="0" err="1"/>
              <a:t>Paucar</a:t>
            </a:r>
            <a:r>
              <a:rPr dirty="0"/>
              <a:t> (</a:t>
            </a:r>
            <a:r>
              <a:rPr dirty="0" err="1"/>
              <a:t>Cód</a:t>
            </a:r>
            <a:r>
              <a:rPr dirty="0"/>
              <a:t>. U25302314)</a:t>
            </a:r>
            <a:br>
              <a:rPr lang="es-ES" dirty="0"/>
            </a:br>
            <a:r>
              <a:rPr lang="es-ES" dirty="0"/>
              <a:t>   	- Herrera Villanueva Luis Javier (Cod U24327771</a:t>
            </a:r>
            <a:r>
              <a:rPr lang="pt-BR" dirty="0"/>
              <a:t>)</a:t>
            </a:r>
          </a:p>
          <a:p>
            <a:r>
              <a:rPr lang="pt-BR" dirty="0"/>
              <a:t>	- Richard Martin </a:t>
            </a:r>
            <a:r>
              <a:rPr lang="pt-BR" dirty="0" err="1"/>
              <a:t>Ticona</a:t>
            </a:r>
            <a:r>
              <a:rPr lang="pt-BR" dirty="0"/>
              <a:t> Condor (</a:t>
            </a:r>
            <a:r>
              <a:rPr lang="pt-BR" dirty="0" err="1"/>
              <a:t>Cod</a:t>
            </a:r>
            <a:r>
              <a:rPr lang="pt-BR" dirty="0"/>
              <a:t> U23246612)</a:t>
            </a:r>
            <a:br>
              <a:rPr dirty="0"/>
            </a:br>
            <a:r>
              <a:rPr dirty="0"/>
              <a:t>• </a:t>
            </a:r>
            <a:r>
              <a:rPr dirty="0" err="1"/>
              <a:t>Asesora</a:t>
            </a:r>
            <a:r>
              <a:rPr dirty="0"/>
              <a:t>: Mg. Irani Guillen Gomez</a:t>
            </a:r>
            <a:br>
              <a:rPr dirty="0"/>
            </a:br>
            <a:r>
              <a:rPr dirty="0"/>
              <a:t>• Red </a:t>
            </a:r>
            <a:r>
              <a:rPr dirty="0" err="1"/>
              <a:t>Cobertura</a:t>
            </a:r>
            <a:r>
              <a:rPr dirty="0"/>
              <a:t>: 15 </a:t>
            </a:r>
            <a:r>
              <a:rPr dirty="0" err="1"/>
              <a:t>Sedes</a:t>
            </a:r>
            <a:r>
              <a:rPr dirty="0"/>
              <a:t> a Nivel Nacional (</a:t>
            </a:r>
            <a:r>
              <a:rPr dirty="0" err="1"/>
              <a:t>InkaFarma</a:t>
            </a:r>
            <a:r>
              <a:rPr dirty="0"/>
              <a:t>, </a:t>
            </a:r>
            <a:r>
              <a:rPr dirty="0" err="1"/>
              <a:t>Mifarma</a:t>
            </a:r>
            <a:r>
              <a:rPr dirty="0"/>
              <a:t>, CD </a:t>
            </a:r>
            <a:r>
              <a:rPr dirty="0" err="1"/>
              <a:t>Huachipa</a:t>
            </a:r>
            <a:r>
              <a:rPr dirty="0"/>
              <a:t>)</a:t>
            </a:r>
            <a:br>
              <a:rPr dirty="0"/>
            </a:br>
            <a:r>
              <a:rPr dirty="0"/>
              <a:t>• </a:t>
            </a:r>
            <a:r>
              <a:rPr dirty="0" err="1"/>
              <a:t>Cumplimiento</a:t>
            </a:r>
            <a:r>
              <a:rPr dirty="0"/>
              <a:t> </a:t>
            </a:r>
            <a:r>
              <a:rPr dirty="0" err="1"/>
              <a:t>Normativo</a:t>
            </a:r>
            <a:r>
              <a:rPr dirty="0"/>
              <a:t>: DIGEMID (BPA R.M. 833-2015), SUNAT (GRE) y Ley 29733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D100"/>
                </a:solidFill>
              </a:defRPr>
            </a:pPr>
            <a:r>
              <a:t>MÓDULO DE AUTENTICACIÓN Y SEGURIDAD • PRUEBA FUNCIONAL DEL SISTEMA</a:t>
            </a:r>
          </a:p>
          <a:p>
            <a:pPr>
              <a:spcBef>
                <a:spcPts val="200"/>
              </a:spcBef>
              <a:defRPr sz="2200" b="1">
                <a:solidFill>
                  <a:srgbClr val="FFFFFF"/>
                </a:solidFill>
              </a:defRPr>
            </a:pPr>
            <a:r>
              <a:t>Acceso Seguro con Perfiles Farmacéuticos (CU01)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411480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2B66"/>
                </a:solidFill>
              </a:defRPr>
            </a:pPr>
            <a:r>
              <a:t>🎯 Objetivo de la Pantalla: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✔ Control de Acceso Basado en Roles (RBAC): </a:t>
            </a:r>
            <a:r>
              <a:rPr sz="1050" b="0">
                <a:solidFill>
                  <a:srgbClr val="64748B"/>
                </a:solidFill>
              </a:rPr>
              <a:t>Perfiles diferenciados para Químico Farmacéutico (Ventanilla), Administrador de CD Huachipa y Supervisor Regional.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✔ Cumplimiento Normativo Ley 29733: </a:t>
            </a:r>
            <a:r>
              <a:rPr sz="1050" b="0">
                <a:solidFill>
                  <a:srgbClr val="64748B"/>
                </a:solidFill>
              </a:rPr>
              <a:t>Consentimiento explícito de tratamiento de datos personales y banner de cookies para auditoría regulatoria.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✔ Mecanismos Anti-Fuerza Bruta: </a:t>
            </a:r>
            <a:r>
              <a:rPr sz="1050" b="0">
                <a:solidFill>
                  <a:srgbClr val="64748B"/>
                </a:solidFill>
              </a:rPr>
              <a:t>Protección con Honeypot para neutralizar bots y Rate Limiting restrictivo ante intentos fallidos de autenticación.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✔ Asignación Dinámica de Sede: </a:t>
            </a:r>
            <a:r>
              <a:rPr sz="1050" b="0">
                <a:solidFill>
                  <a:srgbClr val="64748B"/>
                </a:solidFill>
              </a:rPr>
              <a:t>El operador inicia sesión contextualizado en su sucursal de origen autorizada (InkaFarma San Isidro Central).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188720"/>
            <a:ext cx="6766560" cy="5303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234440"/>
            <a:ext cx="6675120" cy="5212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Sistema SIIP • UTP 2026 • Ronny Mendoza (U25302314) • Docente: Irani Guillen Gomez • Evidencias de Ejecución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D100"/>
                </a:solidFill>
              </a:defRPr>
            </a:pPr>
            <a:r>
              <a:t>DASHBOARD OPERATIVO Y MÉTRICAS • PRUEBA FUNCIONAL DEL SISTEMA</a:t>
            </a:r>
          </a:p>
          <a:p>
            <a:pPr>
              <a:spcBef>
                <a:spcPts val="200"/>
              </a:spcBef>
              <a:defRPr sz="2200" b="1">
                <a:solidFill>
                  <a:srgbClr val="FFFFFF"/>
                </a:solidFill>
              </a:defRPr>
            </a:pPr>
            <a:r>
              <a:t>Panel de Control Ejecutivo &amp; Red Nacional de 15 Sedes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411480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2B66"/>
                </a:solidFill>
              </a:defRPr>
            </a:pPr>
            <a:r>
              <a:t>🎯 Objetivo de la Pantalla: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✔ Visibilidad en Tiempo Real: </a:t>
            </a:r>
            <a:r>
              <a:rPr sz="1050" b="0">
                <a:solidFill>
                  <a:srgbClr val="64748B"/>
                </a:solidFill>
              </a:rPr>
              <a:t>Monitoreo del inventario valorizado total en soles (PEN) distribuido en toda la cadena farmacéutica.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✔ Indicador de Quiebres Críticos: </a:t>
            </a:r>
            <a:r>
              <a:rPr sz="1050" b="0">
                <a:solidFill>
                  <a:srgbClr val="64748B"/>
                </a:solidFill>
              </a:rPr>
              <a:t>Alerta temprana de ítems en stock cero o próximo a agotarse con semaforización de riesgo.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✔ Trazabilidad de Traslados: </a:t>
            </a:r>
            <a:r>
              <a:rPr sz="1050" b="0">
                <a:solidFill>
                  <a:srgbClr val="64748B"/>
                </a:solidFill>
              </a:rPr>
              <a:t>Contador de órdenes de transferencia pendientes, en tránsito y recepcionadas entre sucursales.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✔ Conexión Cloudflare R2: </a:t>
            </a:r>
            <a:r>
              <a:rPr sz="1050" b="0">
                <a:solidFill>
                  <a:srgbClr val="64748B"/>
                </a:solidFill>
              </a:rPr>
              <a:t>Verificación del repositorio cloud distribuido para almacenamiento seguro de guías y fichas técnicas.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188720"/>
            <a:ext cx="6766560" cy="5303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2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234440"/>
            <a:ext cx="6675120" cy="5212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Sistema SIIP • UTP 2026 • Ronny Mendoza (U25302314) • Docente: Irani Guillen Gomez • Evidencias de Ejecución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D100"/>
                </a:solidFill>
              </a:defRPr>
            </a:pPr>
            <a:r>
              <a:t>MÓDULO DE INVENTARIO GEOCERCANO • PRUEBA FUNCIONAL DEL SISTEMA</a:t>
            </a:r>
          </a:p>
          <a:p>
            <a:pPr>
              <a:spcBef>
                <a:spcPts val="200"/>
              </a:spcBef>
              <a:defRPr sz="2200" b="1">
                <a:solidFill>
                  <a:srgbClr val="FFFFFF"/>
                </a:solidFill>
              </a:defRPr>
            </a:pPr>
            <a:r>
              <a:t>Búsqueda Inteligente e Inventario Geocercano (CU02)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411480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2B66"/>
                </a:solidFill>
              </a:defRPr>
            </a:pPr>
            <a:r>
              <a:t>🎯 Objetivo de la Pantalla: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✔ Algoritmo de Distancia Haversine: </a:t>
            </a:r>
            <a:r>
              <a:rPr sz="1050" b="0">
                <a:solidFill>
                  <a:srgbClr val="64748B"/>
                </a:solidFill>
              </a:rPr>
              <a:t>Calcula la distancia geodésica exacta en kilómetros entre la sede del paciente y las sedes donantes.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✔ Red Nacional de 15 Sedes en Perú: </a:t>
            </a:r>
            <a:r>
              <a:rPr sz="1050" b="0">
                <a:solidFill>
                  <a:srgbClr val="64748B"/>
                </a:solidFill>
              </a:rPr>
              <a:t>Cobertura completa en Lima Metropolitana, Arequipa, Cusco, Trujillo, Chiclayo y Huancayo.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✔ Filtros Macrorregionales: </a:t>
            </a:r>
            <a:r>
              <a:rPr sz="1050" b="0">
                <a:solidFill>
                  <a:srgbClr val="64748B"/>
                </a:solidFill>
              </a:rPr>
              <a:t>Segmentación rápida por Norte, Centro, Sur y Lima con buscador en tiempo real por distrito y marca.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✔ Doble Acción Inmediata: </a:t>
            </a:r>
            <a:r>
              <a:rPr sz="1050" b="0">
                <a:solidFill>
                  <a:srgbClr val="64748B"/>
                </a:solidFill>
              </a:rPr>
              <a:t>Botón directo 'Ruta &amp; Mapa' para orientar al paciente y 'Solicitar Traslado' para compensación de stock.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188720"/>
            <a:ext cx="6766560" cy="5303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3_inventario_geocerc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234440"/>
            <a:ext cx="6675120" cy="5212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Sistema SIIP • UTP 2026 • Ronny Mendoza (U25302314) • Docente: Irani Guillen Gomez • Evidencias de Ejecución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D100"/>
                </a:solidFill>
              </a:defRPr>
            </a:pPr>
            <a:r>
              <a:t>MÓDULO DE COMPENSACIÓN DE STOCK • PRUEBA FUNCIONAL DEL SISTEMA</a:t>
            </a:r>
          </a:p>
          <a:p>
            <a:pPr>
              <a:spcBef>
                <a:spcPts val="200"/>
              </a:spcBef>
              <a:defRPr sz="2200" b="1">
                <a:solidFill>
                  <a:srgbClr val="FFFFFF"/>
                </a:solidFill>
              </a:defRPr>
            </a:pPr>
            <a:r>
              <a:t>Prueba de Solicitud de Traslado Inter-Sedes con IA (CU03)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411480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2B66"/>
                </a:solidFill>
              </a:defRPr>
            </a:pPr>
            <a:r>
              <a:t>🎯 Objetivo de la Pantalla: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✔ Recomendación de Lote por IA: </a:t>
            </a:r>
            <a:r>
              <a:rPr sz="1050" b="0">
                <a:solidFill>
                  <a:srgbClr val="64748B"/>
                </a:solidFill>
              </a:rPr>
              <a:t>Cálculo algorítmico del lote sugerido que optimiza el stock receptor sin desabastecer la sede donante.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✔ Simulación en Tiempo Real (Antes ➔ Después): </a:t>
            </a:r>
            <a:r>
              <a:rPr sz="1050" b="0">
                <a:solidFill>
                  <a:srgbClr val="64748B"/>
                </a:solidFill>
              </a:rPr>
              <a:t>Proyección visual del saldo restante en la sede origen y el nuevo stock proyectado en la sede destino.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✔ Valoración Económica Automática: </a:t>
            </a:r>
            <a:r>
              <a:rPr sz="1050" b="0">
                <a:solidFill>
                  <a:srgbClr val="64748B"/>
                </a:solidFill>
              </a:rPr>
              <a:t>Cálculo del costo total en soles (S/ PEN) del lote en tránsito para auditoría y control de mermas.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✔ Priorización Operativa: </a:t>
            </a:r>
            <a:r>
              <a:rPr sz="1050" b="0">
                <a:solidFill>
                  <a:srgbClr val="64748B"/>
                </a:solidFill>
              </a:rPr>
              <a:t>Opciones de despacho Normal (4h), Urgente (1-2h) o Crítico Express ante recetas de urgencia en ventanilla.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188720"/>
            <a:ext cx="6766560" cy="5303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4_modal_solicitar_trasl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234440"/>
            <a:ext cx="6675120" cy="5212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Sistema SIIP • UTP 2026 • Ronny Mendoza (U25302314) • Docente: Irani Guillen Gomez • Evidencias de Ejecución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D100"/>
                </a:solidFill>
              </a:defRPr>
            </a:pPr>
            <a:r>
              <a:t>MÓDULO DE EXPERIENCIA DEL PACIENTE • PRUEBA FUNCIONAL DEL SISTEMA</a:t>
            </a:r>
          </a:p>
          <a:p>
            <a:pPr>
              <a:spcBef>
                <a:spcPts val="200"/>
              </a:spcBef>
              <a:defRPr sz="2200" b="1">
                <a:solidFill>
                  <a:srgbClr val="FFFFFF"/>
                </a:solidFill>
              </a:defRPr>
            </a:pPr>
            <a:r>
              <a:t>Minimapa de Orientación y Guía WhatsApp para el Paciente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411480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2B66"/>
                </a:solidFill>
              </a:defRPr>
            </a:pPr>
            <a:r>
              <a:t>🎯 Objetivo de la Pantalla: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✔ Geolocalización Dinámica OSM: </a:t>
            </a:r>
            <a:r>
              <a:rPr sz="1050" b="0">
                <a:solidFill>
                  <a:srgbClr val="64748B"/>
                </a:solidFill>
              </a:rPr>
              <a:t>Minimapa interactivo OpenStreetMap centrado en las coordenadas geográficas de la sucursal más cercana.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✔ Estimación de Tiempos de Traslado: </a:t>
            </a:r>
            <a:r>
              <a:rPr sz="1050" b="0">
                <a:solidFill>
                  <a:srgbClr val="64748B"/>
                </a:solidFill>
              </a:rPr>
              <a:t>Cálculo del tiempo promedio en automóvil y a pie hacia la botica con stock disponible.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✔ Generador de Mensaje WhatsApp: </a:t>
            </a:r>
            <a:r>
              <a:rPr sz="1050" b="0">
                <a:solidFill>
                  <a:srgbClr val="64748B"/>
                </a:solidFill>
              </a:rPr>
              <a:t>Copia con un clic el itinerario formal con dirección, referencia, stock y enlace a Google Maps para enviar al paciente.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✔ Fidelización y No Pérdida de Venta: </a:t>
            </a:r>
            <a:r>
              <a:rPr sz="1050" b="0">
                <a:solidFill>
                  <a:srgbClr val="64748B"/>
                </a:solidFill>
              </a:rPr>
              <a:t>Garantiza que el paciente encuentre su medicina en la misma cadena en menos de 10 minutos.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188720"/>
            <a:ext cx="6766560" cy="5303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5_modal_ruta_ma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234440"/>
            <a:ext cx="6675120" cy="5212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Sistema SIIP • UTP 2026 • Ronny Mendoza (U25302314) • Docente: Irani Guillen Gomez • Evidencias de Ejecución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D100"/>
                </a:solidFill>
              </a:defRPr>
            </a:pPr>
            <a:r>
              <a:t>MÓDULO DE GESTIÓN DE PRODUCTOS • PRUEBA FUNCIONAL DEL SISTEMA</a:t>
            </a:r>
          </a:p>
          <a:p>
            <a:pPr>
              <a:spcBef>
                <a:spcPts val="200"/>
              </a:spcBef>
              <a:defRPr sz="2200" b="1">
                <a:solidFill>
                  <a:srgbClr val="FFFFFF"/>
                </a:solidFill>
              </a:defRPr>
            </a:pPr>
            <a:r>
              <a:t>Gestión de Catálogo Farmacéutico &amp; Ajustes de Stock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411480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2B66"/>
                </a:solidFill>
              </a:defRPr>
            </a:pPr>
            <a:r>
              <a:t>🎯 Objetivo de la Pantalla: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✔ Catálogo Multicategoría: </a:t>
            </a:r>
            <a:r>
              <a:rPr sz="1050" b="0">
                <a:solidFill>
                  <a:srgbClr val="64748B"/>
                </a:solidFill>
              </a:rPr>
              <a:t>Gestión de Antibióticos, Analgésicos, Antiinflamatorios y Oncológicos con imágenes y código EAN/Barras.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✔ Clasificación Marca vs Genérico: </a:t>
            </a:r>
            <a:r>
              <a:rPr sz="1050" b="0">
                <a:solidFill>
                  <a:srgbClr val="64748B"/>
                </a:solidFill>
              </a:rPr>
              <a:t>Segmentación clara para cumplir con la política nacional de disponibilidad de medicamentos genéricos.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✔ Ajuste de Inventario Auditado: </a:t>
            </a:r>
            <a:r>
              <a:rPr sz="1050" b="0">
                <a:solidFill>
                  <a:srgbClr val="64748B"/>
                </a:solidFill>
              </a:rPr>
              <a:t>Permite registrar ingresos, regularizaciones por merma física y ajustes con motivo justificado.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✔ Integración con Kardex FEFO: </a:t>
            </a:r>
            <a:r>
              <a:rPr sz="1050" b="0">
                <a:solidFill>
                  <a:srgbClr val="64748B"/>
                </a:solidFill>
              </a:rPr>
              <a:t>Acceso directo a la hoja de vida, historial de movimientos y lotes de cada fármaco.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188720"/>
            <a:ext cx="6766560" cy="5303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6_gestion_produc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234440"/>
            <a:ext cx="6675120" cy="5212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Sistema SIIP • UTP 2026 • Ronny Mendoza (U25302314) • Docente: Irani Guillen Gomez • Evidencias de Ejecución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D100"/>
                </a:solidFill>
              </a:defRPr>
            </a:pPr>
            <a:r>
              <a:t>AUDITORÍA Y BUENAS PRÁCTICAS DE ALMACENAMIENTO • PRUEBA FUNCIONAL DEL SISTEMA</a:t>
            </a:r>
          </a:p>
          <a:p>
            <a:pPr>
              <a:spcBef>
                <a:spcPts val="200"/>
              </a:spcBef>
              <a:defRPr sz="2200" b="1">
                <a:solidFill>
                  <a:srgbClr val="FFFFFF"/>
                </a:solidFill>
              </a:defRPr>
            </a:pPr>
            <a:r>
              <a:t>Trazabilidad por Lote y Kardex FEFO (BPA R.M. 833-2015)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411480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2B66"/>
                </a:solidFill>
              </a:defRPr>
            </a:pPr>
            <a:r>
              <a:t>🎯 Objetivo de la Pantalla: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✔ Principio FEFO (First Expired, First Out): </a:t>
            </a:r>
            <a:r>
              <a:rPr sz="1050" b="0">
                <a:solidFill>
                  <a:srgbClr val="64748B"/>
                </a:solidFill>
              </a:rPr>
              <a:t>Garantiza la salida prioritaria de lotes con fecha de vencimiento más próxima para evitar caducidades.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✔ Registro de Lote y Registro Sanitario: </a:t>
            </a:r>
            <a:r>
              <a:rPr sz="1050" b="0">
                <a:solidFill>
                  <a:srgbClr val="64748B"/>
                </a:solidFill>
              </a:rPr>
              <a:t>Trazabilidad completa con código de lote del fabricante y fecha de expiración oficial.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✔ Historial Cronológico de Movimientos: </a:t>
            </a:r>
            <a:r>
              <a:rPr sz="1050" b="0">
                <a:solidFill>
                  <a:srgbClr val="64748B"/>
                </a:solidFill>
              </a:rPr>
              <a:t>Auditoría de Entradas, Salidas por Venta y Traslados entre sedes con usuario responsable.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✔ Certificación DIGEMID: </a:t>
            </a:r>
            <a:r>
              <a:rPr sz="1050" b="0">
                <a:solidFill>
                  <a:srgbClr val="64748B"/>
                </a:solidFill>
              </a:rPr>
              <a:t>Cumplimiento estricto de las Buenas Prácticas de Almacenamiento farmacéutico vigentes en el Perú.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188720"/>
            <a:ext cx="6766560" cy="5303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7_modal_kardex_trazabili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234440"/>
            <a:ext cx="6675120" cy="5212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Sistema SIIP • UTP 2026 • Ronny Mendoza (U25302314) • Docente: Irani Guillen Gomez • Evidencias de Ejecución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D100"/>
                </a:solidFill>
              </a:defRPr>
            </a:pPr>
            <a:r>
              <a:t>MÓDULO DE GESTIÓN DE SEDES • PRUEBA FUNCIONAL DEL SISTEMA</a:t>
            </a:r>
          </a:p>
          <a:p>
            <a:pPr>
              <a:spcBef>
                <a:spcPts val="200"/>
              </a:spcBef>
              <a:defRPr sz="2200" b="1">
                <a:solidFill>
                  <a:srgbClr val="FFFFFF"/>
                </a:solidFill>
              </a:defRPr>
            </a:pPr>
            <a:r>
              <a:t>Administración Centralizada de 15 Sedes en el Perú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411480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2B66"/>
                </a:solidFill>
              </a:defRPr>
            </a:pPr>
            <a:r>
              <a:t>🎯 Objetivo de la Pantalla: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✔ Distribución Geográfica Nacional: </a:t>
            </a:r>
            <a:r>
              <a:rPr sz="1050" b="0">
                <a:solidFill>
                  <a:srgbClr val="64748B"/>
                </a:solidFill>
              </a:rPr>
              <a:t>10 sedes en Lima Metropolitana y Callao, más 5 sedes estratégicas en Arequipa, Cusco, La Libertad, Lambayeque y Junín.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✔ Ficha Técnica 360° por Sede: </a:t>
            </a:r>
            <a:r>
              <a:rPr sz="1050" b="0">
                <a:solidFill>
                  <a:srgbClr val="64748B"/>
                </a:solidFill>
              </a:rPr>
              <a:t>Visualización de dirección exacta, teléfono, horario de atención, director técnico farmacéutico y tipo de sede.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✔ Métricas Operativas en Tiempo Real: </a:t>
            </a:r>
            <a:r>
              <a:rPr sz="1050" b="0">
                <a:solidFill>
                  <a:srgbClr val="64748B"/>
                </a:solidFill>
              </a:rPr>
              <a:t>Monitoreo del total de medicamentos en inventario, stock crítico y volumen de traslados recibidos/emitidos.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✔ Filtros por Cadena y Región: </a:t>
            </a:r>
            <a:r>
              <a:rPr sz="1050" b="0">
                <a:solidFill>
                  <a:srgbClr val="64748B"/>
                </a:solidFill>
              </a:rPr>
              <a:t>Clasificación instantánea entre InkaFarma, Mifarma y Centros de Distribución Mayoristas (CD Huachipa).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188720"/>
            <a:ext cx="6766560" cy="5303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8_gestion_se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234440"/>
            <a:ext cx="6675120" cy="5212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Sistema SIIP • UTP 2026 • Ronny Mendoza (U25302314) • Docente: Irani Guillen Gomez • Evidencias de Ejecución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D100"/>
                </a:solidFill>
              </a:defRPr>
            </a:pPr>
            <a:r>
              <a:t>MÓDULO DE INTELIGENCIA PREDICTIVA • PRUEBA FUNCIONAL DEL SISTEMA</a:t>
            </a:r>
          </a:p>
          <a:p>
            <a:pPr>
              <a:spcBef>
                <a:spcPts val="200"/>
              </a:spcBef>
              <a:defRPr sz="2200" b="1">
                <a:solidFill>
                  <a:srgbClr val="FFFFFF"/>
                </a:solidFill>
              </a:defRPr>
            </a:pPr>
            <a:r>
              <a:t>Motor de Alertas Predictivas de Demanda con Algoritmo IA (CU04)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411480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2B66"/>
                </a:solidFill>
              </a:defRPr>
            </a:pPr>
            <a:r>
              <a:t>🎯 Objetivo de la Pantalla: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✔ Cálculo de Consumo Diario Promedio: </a:t>
            </a:r>
            <a:r>
              <a:rPr sz="1050" b="0">
                <a:solidFill>
                  <a:srgbClr val="64748B"/>
                </a:solidFill>
              </a:rPr>
              <a:t>Algoritmo estadístico que analiza el historial de dispensación para estimar la tasa diaria de salida de cajas.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✔ Predicción de Quiebre a 7 Días: </a:t>
            </a:r>
            <a:r>
              <a:rPr sz="1050" b="0">
                <a:solidFill>
                  <a:srgbClr val="64748B"/>
                </a:solidFill>
              </a:rPr>
              <a:t>Identifica fármacos que agotarán existencias en menos de 7 días antes de que ocurra la pérdida de stock en mostrador.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✔ Autonomía Operativa en Días: </a:t>
            </a:r>
            <a:r>
              <a:rPr sz="1050" b="0">
                <a:solidFill>
                  <a:srgbClr val="64748B"/>
                </a:solidFill>
              </a:rPr>
              <a:t>Calcula la cantidad de días de cobertura restante por sucursal bajo demanda regular.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✔ Automatización de Solicitudes: </a:t>
            </a:r>
            <a:r>
              <a:rPr sz="1050" b="0">
                <a:solidFill>
                  <a:srgbClr val="64748B"/>
                </a:solidFill>
              </a:rPr>
              <a:t>Generación preventiva de traslados inter-sedes con un clic desde el propio panel de alertas críticas.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188720"/>
            <a:ext cx="6766560" cy="5303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9_alertas_predicti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234440"/>
            <a:ext cx="6675120" cy="5212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Sistema SIIP • UTP 2026 • Ronny Mendoza (U25302314) • Docente: Irani Guillen Gomez • Evidencias de Ejecución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D100"/>
                </a:solidFill>
              </a:defRPr>
            </a:pPr>
            <a:r>
              <a:t>MÓDULO DE LOGÍSTICA Y CUMPLIMIENTO TRIBUTARIO • PRUEBA FUNCIONAL DEL SISTEMA</a:t>
            </a:r>
          </a:p>
          <a:p>
            <a:pPr>
              <a:spcBef>
                <a:spcPts val="200"/>
              </a:spcBef>
              <a:defRPr sz="2200" b="1">
                <a:solidFill>
                  <a:srgbClr val="FFFFFF"/>
                </a:solidFill>
              </a:defRPr>
            </a:pPr>
            <a:r>
              <a:t>Bandeja de Traslados y Guía de Remisión Electrónica SUNAT (CU05)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411480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2B66"/>
                </a:solidFill>
              </a:defRPr>
            </a:pPr>
            <a:r>
              <a:t>🎯 Objetivo de la Pantalla: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✔ Flujo de Estados Operativos: </a:t>
            </a:r>
            <a:r>
              <a:rPr sz="1050" b="0">
                <a:solidFill>
                  <a:srgbClr val="64748B"/>
                </a:solidFill>
              </a:rPr>
              <a:t>Seguimiento riguroso de cada orden: PENDIENTE ➔ DESPACHADO ➔ EN TRÁNSITO ➔ COMPLETADO.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✔ Emisión de Guía de Remisión (GRE): </a:t>
            </a:r>
            <a:r>
              <a:rPr sz="1050" b="0">
                <a:solidFill>
                  <a:srgbClr val="64748B"/>
                </a:solidFill>
              </a:rPr>
              <a:t>Cumplimiento tributario SUNAT con número de serie, RUC de transportista, placa y precinto de seguridad.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✔ Código QR y Firma Digital: </a:t>
            </a:r>
            <a:r>
              <a:rPr sz="1050" b="0">
                <a:solidFill>
                  <a:srgbClr val="64748B"/>
                </a:solidFill>
              </a:rPr>
              <a:t>Generación automática del código QR de validación fiscal y trazabilidad de custodia de medicamentos.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✔ Recepción con Validación de Calidad: </a:t>
            </a:r>
            <a:r>
              <a:rPr sz="1050" b="0">
                <a:solidFill>
                  <a:srgbClr val="64748B"/>
                </a:solidFill>
              </a:rPr>
              <a:t>Inspección de precintos íntegros y temperatura controlada al recepcionar la mercadería en la botica destino.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188720"/>
            <a:ext cx="6766560" cy="5303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10_gestion_trasla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234440"/>
            <a:ext cx="6675120" cy="5212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Sistema SIIP • UTP 2026 • Ronny Mendoza (U25302314) • Docente: Irani Guillen Gomez • Evidencias de Ejecución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32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D100"/>
                </a:solidFill>
              </a:defRPr>
            </a:pPr>
            <a:r>
              <a:t>CONCLUSIONES Y VALIDACIÓN DEL SISTEMA SIIP</a:t>
            </a:r>
          </a:p>
          <a:p>
            <a:pPr>
              <a:spcBef>
                <a:spcPts val="1400"/>
              </a:spcBef>
              <a:defRPr sz="1400" b="1">
                <a:solidFill>
                  <a:srgbClr val="FFFFFF"/>
                </a:solidFill>
              </a:defRPr>
            </a:pPr>
            <a:r>
              <a:t>✔ Cobertura de Pruebas al 100%</a:t>
            </a:r>
            <a:br/>
            <a:r>
              <a:rPr sz="1200" b="0">
                <a:solidFill>
                  <a:srgbClr val="CBD5E1"/>
                </a:solidFill>
              </a:rPr>
              <a:t>   Todos los módulos principales (Inventario Geocercano, Productos, Sedes, Alertas IA y Traslados) han sido probados y verificados con datos reales y consistentes.</a:t>
            </a:r>
          </a:p>
          <a:p>
            <a:pPr>
              <a:spcBef>
                <a:spcPts val="1400"/>
              </a:spcBef>
              <a:defRPr sz="1400" b="1">
                <a:solidFill>
                  <a:srgbClr val="FFFFFF"/>
                </a:solidFill>
              </a:defRPr>
            </a:pPr>
            <a:r>
              <a:t>✔ Eliminación de Quiebres de Stock</a:t>
            </a:r>
            <a:br/>
            <a:r>
              <a:rPr sz="1200" b="0">
                <a:solidFill>
                  <a:srgbClr val="CBD5E1"/>
                </a:solidFill>
              </a:rPr>
              <a:t>   El motor predictivo y la compensación inter-sedes evitan la pérdida de pacientes y aseguran la disponibilidad de medicamentos esenciales.</a:t>
            </a:r>
          </a:p>
          <a:p>
            <a:pPr>
              <a:spcBef>
                <a:spcPts val="1400"/>
              </a:spcBef>
              <a:defRPr sz="1400" b="1">
                <a:solidFill>
                  <a:srgbClr val="FFFFFF"/>
                </a:solidFill>
              </a:defRPr>
            </a:pPr>
            <a:r>
              <a:t>✔ Red Nacional Operativa</a:t>
            </a:r>
            <a:br/>
            <a:r>
              <a:rPr sz="1200" b="0">
                <a:solidFill>
                  <a:srgbClr val="CBD5E1"/>
                </a:solidFill>
              </a:rPr>
              <a:t>   Soporte de 15 sedes estratégicas distribuidas en Lima, Arequipa, Cusco, Trujillo, Chiclayo y Huancayo con geolocalización Haversine.</a:t>
            </a:r>
          </a:p>
          <a:p>
            <a:pPr>
              <a:spcBef>
                <a:spcPts val="1400"/>
              </a:spcBef>
              <a:defRPr sz="1400" b="1">
                <a:solidFill>
                  <a:srgbClr val="FFFFFF"/>
                </a:solidFill>
              </a:defRPr>
            </a:pPr>
            <a:r>
              <a:t>✔ Conformidad Normativa y Legal</a:t>
            </a:r>
            <a:br/>
            <a:r>
              <a:rPr sz="1200" b="0">
                <a:solidFill>
                  <a:srgbClr val="CBD5E1"/>
                </a:solidFill>
              </a:rPr>
              <a:t>   Cumplimiento estricto de DIGEMID (BPA R.M. 833-2015), SUNAT (Guía de Remisión Electrónica GRE) y Ley 29733 de Protección de Datos Personales.</a:t>
            </a:r>
          </a:p>
          <a:p>
            <a:pPr>
              <a:spcBef>
                <a:spcPts val="1400"/>
              </a:spcBef>
              <a:defRPr sz="1400" b="1">
                <a:solidFill>
                  <a:srgbClr val="FFFFFF"/>
                </a:solidFill>
              </a:defRPr>
            </a:pPr>
            <a:r>
              <a:t>✔ Arquitectura Dockerizada y Escalable</a:t>
            </a:r>
            <a:br/>
            <a:r>
              <a:rPr sz="1200" b="0">
                <a:solidFill>
                  <a:srgbClr val="CBD5E1"/>
                </a:solidFill>
              </a:rPr>
              <a:t>   Microservicios Spring Boot, Gateway, Frontend React Vite y persistencia sincronizada listos para despliegue productivo.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1687</Words>
  <Application>Microsoft Office PowerPoint</Application>
  <PresentationFormat>Panorámica</PresentationFormat>
  <Paragraphs>92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Ronny Fernando</cp:lastModifiedBy>
  <cp:revision>4</cp:revision>
  <dcterms:created xsi:type="dcterms:W3CDTF">2013-01-27T09:14:16Z</dcterms:created>
  <dcterms:modified xsi:type="dcterms:W3CDTF">2026-10-27T03:00:44Z</dcterms:modified>
  <cp:category/>
</cp:coreProperties>
</file>