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65392"/>
            <a:ext cx="12191695" cy="292608"/>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822960"/>
            <a:ext cx="1280160" cy="64008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UTP</a:t>
            </a:r>
          </a:p>
        </p:txBody>
      </p:sp>
      <p:sp>
        <p:nvSpPr>
          <p:cNvPr id="5" name="TextBox 4"/>
          <p:cNvSpPr txBox="1"/>
          <p:nvPr/>
        </p:nvSpPr>
        <p:spPr>
          <a:xfrm>
            <a:off x="1097280" y="1645920"/>
            <a:ext cx="10058400" cy="4572000"/>
          </a:xfrm>
          <a:prstGeom prst="rect">
            <a:avLst/>
          </a:prstGeom>
          <a:noFill/>
        </p:spPr>
        <p:txBody>
          <a:bodyPr wrap="square">
            <a:spAutoFit/>
          </a:bodyPr>
          <a:lstStyle/>
          <a:p>
            <a:pPr>
              <a:defRPr sz="1300" b="1">
                <a:solidFill>
                  <a:srgbClr val="FFD100"/>
                </a:solidFill>
              </a:defRPr>
            </a:pPr>
            <a:r>
              <a:t>CURSO INTEGRADOR I: SISTEMAS - SOFTWARE (SECCIÓN 20065) • AVANCE 3</a:t>
            </a:r>
          </a:p>
          <a:p>
            <a:pPr>
              <a:spcBef>
                <a:spcPts val="1200"/>
              </a:spcBef>
              <a:defRPr sz="3200" b="1">
                <a:solidFill>
                  <a:srgbClr val="FFFFFF"/>
                </a:solidFill>
              </a:defRPr>
            </a:pPr>
            <a:r>
              <a:t>SISTEMA INTELIGENTE DE INVENTARIO Y PREDICCIÓN (SIIP)</a:t>
            </a:r>
          </a:p>
          <a:p>
            <a:pPr>
              <a:spcBef>
                <a:spcPts val="600"/>
              </a:spcBef>
              <a:defRPr sz="1800">
                <a:solidFill>
                  <a:srgbClr val="E0E7FF"/>
                </a:solidFill>
              </a:defRPr>
            </a:pPr>
            <a:r>
              <a:t>Optimización de Inventario, Geocercanía &lt;10km y Traslados para Farmacias Peruanas</a:t>
            </a:r>
          </a:p>
          <a:p>
            <a:br/>
            <a:pPr>
              <a:spcBef>
                <a:spcPts val="1600"/>
              </a:spcBef>
              <a:defRPr sz="1200">
                <a:solidFill>
                  <a:srgbClr val="FFFFFF"/>
                </a:solidFill>
              </a:defRPr>
            </a:pPr>
            <a:r>
              <a:t>• Estudiante: Mendoza Paucar Ronny Fernando (Cód. U25302314)</a:t>
            </a:r>
            <a:br/>
            <a:r>
              <a:t>• Colaborador / Equipo: Herrera Villanueva Luis Javier (GitHub: HerreraVillanuevaLuisJavier)</a:t>
            </a:r>
            <a:br/>
            <a:r>
              <a:t>• Docente: Mg. Irani Guillen Gomez</a:t>
            </a:r>
            <a:br/>
            <a:r>
              <a:t>• Stack Tecnológico: Spring Boot Microservices, PostgreSQL (8 Tablas), React Vite, Docker Compose</a:t>
            </a:r>
            <a:br/>
            <a:r>
              <a:t>• Librerías Requeridas: Google Guava, Apache POI, Apache Commons, Logback Integradas</a:t>
            </a:r>
            <a:br/>
            <a:r>
              <a:t>• Marco Regulatorio: DIGEMID (BPA R.M. 833-2015), SUNAT (GRE) y Ley 29733 de Datos Personales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CONTEXTO ESTRATÉGICO</a:t>
            </a:r>
          </a:p>
          <a:p>
            <a:pPr>
              <a:spcBef>
                <a:spcPts val="200"/>
              </a:spcBef>
              <a:defRPr sz="2200" b="1">
                <a:solidFill>
                  <a:srgbClr val="FFFFFF"/>
                </a:solidFill>
              </a:defRPr>
            </a:pPr>
            <a:r>
              <a:t>Misión, Visión y Contexto de Farmacias Peruanas</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914400" y="1371600"/>
            <a:ext cx="4846320" cy="4754880"/>
          </a:xfrm>
          <a:prstGeom prst="roundRect">
            <a:avLst/>
          </a:prstGeom>
          <a:solidFill>
            <a:srgbClr val="FFFFFF"/>
          </a:solidFill>
          <a:ln w="25400">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554480"/>
            <a:ext cx="4480560" cy="4389120"/>
          </a:xfrm>
          <a:prstGeom prst="rect">
            <a:avLst/>
          </a:prstGeom>
          <a:noFill/>
        </p:spPr>
        <p:txBody>
          <a:bodyPr wrap="square">
            <a:spAutoFit/>
          </a:bodyPr>
          <a:lstStyle/>
          <a:p>
            <a:pPr>
              <a:defRPr b="1" sz="1600">
                <a:solidFill>
                  <a:srgbClr val="002B66"/>
                </a:solidFill>
              </a:defRPr>
            </a:pPr>
            <a:r>
              <a:t>🎯 MISIÓN DEL PROYECTO</a:t>
            </a:r>
          </a:p>
          <a:p>
            <a:pPr>
              <a:spcBef>
                <a:spcPts val="1400"/>
              </a:spcBef>
              <a:defRPr sz="1250">
                <a:solidFill>
                  <a:srgbClr val="0F172A"/>
                </a:solidFill>
              </a:defRPr>
            </a:pPr>
            <a:r>
              <a:t>Desarrollar e implementar una plataforma tecnológica distribuida que garantice la disponibilidad oportuna de medicamentos esenciales en los más de 2,200 puntos de venta de Farmacias Peruanas (InkaFarma y Mifarma).</a:t>
            </a:r>
            <a:br/>
            <a:br/>
            <a:r>
              <a:t>El sistema interconecta el inventario en un radio geocercano menor a 10 km mediante el algoritmo Haversine, automatizando la compensación inter-sedes, mitigando quiebres de stock en mostrador y optimizando el capital de trabajo de la corporación bajo estricto cumplimiento normativo DIGEMID y SUNAT.</a:t>
            </a:r>
          </a:p>
        </p:txBody>
      </p:sp>
      <p:sp>
        <p:nvSpPr>
          <p:cNvPr id="10" name="Rounded Rectangle 9"/>
          <p:cNvSpPr/>
          <p:nvPr/>
        </p:nvSpPr>
        <p:spPr>
          <a:xfrm>
            <a:off x="6400800" y="1371600"/>
            <a:ext cx="4846320" cy="4754880"/>
          </a:xfrm>
          <a:prstGeom prst="roundRect">
            <a:avLst/>
          </a:prstGeom>
          <a:solidFill>
            <a:srgbClr val="FFFFFF"/>
          </a:solidFill>
          <a:ln w="25400">
            <a:solidFill>
              <a:srgbClr val="FFD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554480"/>
            <a:ext cx="4480560" cy="4389120"/>
          </a:xfrm>
          <a:prstGeom prst="rect">
            <a:avLst/>
          </a:prstGeom>
          <a:noFill/>
        </p:spPr>
        <p:txBody>
          <a:bodyPr wrap="square">
            <a:spAutoFit/>
          </a:bodyPr>
          <a:lstStyle/>
          <a:p>
            <a:pPr>
              <a:defRPr b="1" sz="1600">
                <a:solidFill>
                  <a:srgbClr val="002B66"/>
                </a:solidFill>
              </a:defRPr>
            </a:pPr>
            <a:r>
              <a:t>👁️ VISIÓN DEL PROYECTO</a:t>
            </a:r>
          </a:p>
          <a:p>
            <a:pPr>
              <a:spcBef>
                <a:spcPts val="1400"/>
              </a:spcBef>
              <a:defRPr sz="1250">
                <a:solidFill>
                  <a:srgbClr val="0F172A"/>
                </a:solidFill>
              </a:defRPr>
            </a:pPr>
            <a:r>
              <a:t>Ser el estándar tecnológico de referencia a nivel nacional en logística predictiva y gestión inteligente de existencias para la industria farmacéutica peruana al 2026.</a:t>
            </a:r>
            <a:br/>
            <a:br/>
            <a:r>
              <a:t>Consolidar una red logística resiliente basada en microservicios contenerizados, con modelos predictivos de demanda que anticipen el 100% de quiebres con 7 días de anticipación, reduciendo las mermas por vencimiento mediante trazabilidad FEFO y elevando el nivel de servicio al paciente al 99.2% de efectividad de receta médica.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DEFINICIÓN DEL ALCANCE</a:t>
            </a:r>
          </a:p>
          <a:p>
            <a:pPr>
              <a:spcBef>
                <a:spcPts val="200"/>
              </a:spcBef>
              <a:defRPr sz="2200" b="1">
                <a:solidFill>
                  <a:srgbClr val="FFFFFF"/>
                </a:solidFill>
              </a:defRPr>
            </a:pPr>
            <a:r>
              <a:t>Objetivos del Proyecto y Requisitos Funcionales</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731520" y="1280160"/>
            <a:ext cx="10698480" cy="1097280"/>
          </a:xfrm>
          <a:prstGeom prst="round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25880"/>
            <a:ext cx="10332720" cy="1005840"/>
          </a:xfrm>
          <a:prstGeom prst="rect">
            <a:avLst/>
          </a:prstGeom>
          <a:noFill/>
        </p:spPr>
        <p:txBody>
          <a:bodyPr wrap="square">
            <a:spAutoFit/>
          </a:bodyPr>
          <a:lstStyle/>
          <a:p>
            <a:pPr>
              <a:defRPr b="1" sz="1200">
                <a:solidFill>
                  <a:srgbClr val="FFD100"/>
                </a:solidFill>
              </a:defRPr>
            </a:pPr>
            <a:r>
              <a:t>OBJETIVO GENERAL</a:t>
            </a:r>
          </a:p>
          <a:p>
            <a:pPr>
              <a:defRPr sz="1300">
                <a:solidFill>
                  <a:srgbClr val="FFFFFF"/>
                </a:solidFill>
              </a:defRPr>
            </a:pPr>
            <a:r>
              <a:t>Implementar un sistema software integral basado en microservicios, PostgreSQL y algoritmos predictivos para la gestión de inventario geocercano y traslados inter-sedes en Farmacias Peruanas.</a:t>
            </a:r>
          </a:p>
        </p:txBody>
      </p:sp>
      <p:sp>
        <p:nvSpPr>
          <p:cNvPr id="10" name="Rounded Rectangle 9"/>
          <p:cNvSpPr/>
          <p:nvPr/>
        </p:nvSpPr>
        <p:spPr>
          <a:xfrm>
            <a:off x="731520" y="2560320"/>
            <a:ext cx="3383280" cy="3657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97480"/>
            <a:ext cx="3108960" cy="3383280"/>
          </a:xfrm>
          <a:prstGeom prst="rect">
            <a:avLst/>
          </a:prstGeom>
          <a:noFill/>
        </p:spPr>
        <p:txBody>
          <a:bodyPr wrap="square">
            <a:spAutoFit/>
          </a:bodyPr>
          <a:lstStyle/>
          <a:p>
            <a:pPr>
              <a:defRPr b="1" sz="1300">
                <a:solidFill>
                  <a:srgbClr val="002B66"/>
                </a:solidFill>
              </a:defRPr>
            </a:pPr>
            <a:r>
              <a:t>Seguridad y Autenticación (RF-01)</a:t>
            </a:r>
          </a:p>
          <a:p>
            <a:pPr>
              <a:spcBef>
                <a:spcPts val="1000"/>
              </a:spcBef>
              <a:defRPr sz="1100">
                <a:solidFill>
                  <a:srgbClr val="0F172A"/>
                </a:solidFill>
              </a:defRPr>
            </a:pPr>
            <a:r>
              <a:t>Implementar acceso basado en roles (RBAC) con persistencia en PostgreSQL, encriptación BCrypt, control de 5 intentos fallidos con Guava y cumplimiento de Ley 29733.</a:t>
            </a:r>
          </a:p>
        </p:txBody>
      </p:sp>
      <p:sp>
        <p:nvSpPr>
          <p:cNvPr id="12" name="Rounded Rectangle 11"/>
          <p:cNvSpPr/>
          <p:nvPr/>
        </p:nvSpPr>
        <p:spPr>
          <a:xfrm>
            <a:off x="4389120" y="2560320"/>
            <a:ext cx="3383280" cy="3657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697480"/>
            <a:ext cx="3108960" cy="3383280"/>
          </a:xfrm>
          <a:prstGeom prst="rect">
            <a:avLst/>
          </a:prstGeom>
          <a:noFill/>
        </p:spPr>
        <p:txBody>
          <a:bodyPr wrap="square">
            <a:spAutoFit/>
          </a:bodyPr>
          <a:lstStyle/>
          <a:p>
            <a:pPr>
              <a:defRPr b="1" sz="1300">
                <a:solidFill>
                  <a:srgbClr val="002B66"/>
                </a:solidFill>
              </a:defRPr>
            </a:pPr>
            <a:r>
              <a:t>Inventario y Geocercanía (RF-02)</a:t>
            </a:r>
          </a:p>
          <a:p>
            <a:pPr>
              <a:spcBef>
                <a:spcPts val="1000"/>
              </a:spcBef>
              <a:defRPr sz="1100">
                <a:solidFill>
                  <a:srgbClr val="0F172A"/>
                </a:solidFill>
              </a:defRPr>
            </a:pPr>
            <a:r>
              <a:t>Desarrollar el cálculo geodésico de distancias mediante algoritmo Haversine para localizar stock disponible en sedes a menos de 10 km en tiempo real.</a:t>
            </a:r>
          </a:p>
        </p:txBody>
      </p:sp>
      <p:sp>
        <p:nvSpPr>
          <p:cNvPr id="14" name="Rounded Rectangle 13"/>
          <p:cNvSpPr/>
          <p:nvPr/>
        </p:nvSpPr>
        <p:spPr>
          <a:xfrm>
            <a:off x="8046720" y="2560320"/>
            <a:ext cx="3383280" cy="3657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2697480"/>
            <a:ext cx="3108960" cy="3383280"/>
          </a:xfrm>
          <a:prstGeom prst="rect">
            <a:avLst/>
          </a:prstGeom>
          <a:noFill/>
        </p:spPr>
        <p:txBody>
          <a:bodyPr wrap="square">
            <a:spAutoFit/>
          </a:bodyPr>
          <a:lstStyle/>
          <a:p>
            <a:pPr>
              <a:defRPr b="1" sz="1300">
                <a:solidFill>
                  <a:srgbClr val="002B66"/>
                </a:solidFill>
              </a:defRPr>
            </a:pPr>
            <a:r>
              <a:t>Predicción y Alertas FEFO (RF-03, RF-11)</a:t>
            </a:r>
          </a:p>
          <a:p>
            <a:pPr>
              <a:spcBef>
                <a:spcPts val="1000"/>
              </a:spcBef>
              <a:defRPr sz="1100">
                <a:solidFill>
                  <a:srgbClr val="0F172A"/>
                </a:solidFill>
              </a:defRPr>
            </a:pPr>
            <a:r>
              <a:t>Construir un motor analítico que prediga quiebres a 7 días, calcule la velocidad de consumo diario y audite lotes por principio FEFO (BPA R.M. 833-2015).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PLANIFICACIÓN Y METODOLOGÍA</a:t>
            </a:r>
          </a:p>
          <a:p>
            <a:pPr>
              <a:spcBef>
                <a:spcPts val="200"/>
              </a:spcBef>
              <a:defRPr sz="2200" b="1">
                <a:solidFill>
                  <a:srgbClr val="FFFFFF"/>
                </a:solidFill>
              </a:defRPr>
            </a:pPr>
            <a:r>
              <a:t>Cronograma de Trabajo, Sprints y GitFlow (UTP 2026)</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graphicFrame>
        <p:nvGraphicFramePr>
          <p:cNvPr id="8" name="Table 7"/>
          <p:cNvGraphicFramePr>
            <a:graphicFrameLocks noGrp="1"/>
          </p:cNvGraphicFramePr>
          <p:nvPr/>
        </p:nvGraphicFramePr>
        <p:xfrm>
          <a:off x="731520" y="1280160"/>
          <a:ext cx="10698480" cy="4937760"/>
        </p:xfrm>
        <a:graphic>
          <a:graphicData uri="http://schemas.openxmlformats.org/drawingml/2006/table">
            <a:tbl>
              <a:tblPr firstRow="1" bandRow="1">
                <a:tableStyleId>{5C22544A-7EE6-4342-B048-85BDC9FD1C3A}</a:tableStyleId>
              </a:tblPr>
              <a:tblGrid>
                <a:gridCol w="1371600"/>
                <a:gridCol w="2560320"/>
                <a:gridCol w="4937760"/>
                <a:gridCol w="1828800"/>
              </a:tblGrid>
              <a:tr h="493776">
                <a:tc>
                  <a:txBody>
                    <a:bodyPr/>
                    <a:lstStyle/>
                    <a:p>
                      <a:pPr>
                        <a:defRPr b="1" sz="1100">
                          <a:solidFill>
                            <a:srgbClr val="FFD100"/>
                          </a:solidFill>
                        </a:defRPr>
                      </a:pPr>
                      <a:r>
                        <a:t>Sprint</a:t>
                      </a:r>
                    </a:p>
                  </a:txBody>
                  <a:tcPr>
                    <a:solidFill>
                      <a:srgbClr val="002B66"/>
                    </a:solidFill>
                  </a:tcPr>
                </a:tc>
                <a:tc>
                  <a:txBody>
                    <a:bodyPr/>
                    <a:lstStyle/>
                    <a:p>
                      <a:pPr>
                        <a:defRPr b="1" sz="1100">
                          <a:solidFill>
                            <a:srgbClr val="FFD100"/>
                          </a:solidFill>
                        </a:defRPr>
                      </a:pPr>
                      <a:r>
                        <a:t>Módulo / Alcance</a:t>
                      </a:r>
                    </a:p>
                  </a:txBody>
                  <a:tcPr>
                    <a:solidFill>
                      <a:srgbClr val="002B66"/>
                    </a:solidFill>
                  </a:tcPr>
                </a:tc>
                <a:tc>
                  <a:txBody>
                    <a:bodyPr/>
                    <a:lstStyle/>
                    <a:p>
                      <a:pPr>
                        <a:defRPr b="1" sz="1100">
                          <a:solidFill>
                            <a:srgbClr val="FFD100"/>
                          </a:solidFill>
                        </a:defRPr>
                      </a:pPr>
                      <a:r>
                        <a:t>Entregables Técnicos Principales</a:t>
                      </a:r>
                    </a:p>
                  </a:txBody>
                  <a:tcPr>
                    <a:solidFill>
                      <a:srgbClr val="002B66"/>
                    </a:solidFill>
                  </a:tcPr>
                </a:tc>
                <a:tc>
                  <a:txBody>
                    <a:bodyPr/>
                    <a:lstStyle/>
                    <a:p>
                      <a:pPr>
                        <a:defRPr b="1" sz="1100">
                          <a:solidFill>
                            <a:srgbClr val="FFD100"/>
                          </a:solidFill>
                        </a:defRPr>
                      </a:pPr>
                      <a:r>
                        <a:t>Responsable / Fechas</a:t>
                      </a:r>
                    </a:p>
                  </a:txBody>
                  <a:tcPr>
                    <a:solidFill>
                      <a:srgbClr val="002B66"/>
                    </a:solidFill>
                  </a:tcPr>
                </a:tc>
              </a:tr>
              <a:tr h="493776">
                <a:tc>
                  <a:txBody>
                    <a:bodyPr/>
                    <a:lstStyle/>
                    <a:p>
                      <a:pPr>
                        <a:defRPr sz="1000">
                          <a:solidFill>
                            <a:srgbClr val="0F172A"/>
                          </a:solidFill>
                        </a:defRPr>
                      </a:pPr>
                      <a:r>
                        <a:t>Sprint 1 (S1-S2)</a:t>
                      </a:r>
                    </a:p>
                  </a:txBody>
                  <a:tcPr>
                    <a:solidFill>
                      <a:srgbClr val="FFFFFF"/>
                    </a:solidFill>
                  </a:tcPr>
                </a:tc>
                <a:tc>
                  <a:txBody>
                    <a:bodyPr/>
                    <a:lstStyle/>
                    <a:p>
                      <a:pPr>
                        <a:defRPr sz="1000">
                          <a:solidFill>
                            <a:srgbClr val="0F172A"/>
                          </a:solidFill>
                        </a:defRPr>
                      </a:pPr>
                      <a:r>
                        <a:t>Arquitectura &amp; Docker</a:t>
                      </a:r>
                    </a:p>
                  </a:txBody>
                  <a:tcPr>
                    <a:solidFill>
                      <a:srgbClr val="FFFFFF"/>
                    </a:solidFill>
                  </a:tcPr>
                </a:tc>
                <a:tc>
                  <a:txBody>
                    <a:bodyPr/>
                    <a:lstStyle/>
                    <a:p>
                      <a:pPr>
                        <a:defRPr sz="1000">
                          <a:solidFill>
                            <a:srgbClr val="0F172A"/>
                          </a:solidFill>
                        </a:defRPr>
                      </a:pPr>
                      <a:r>
                        <a:t>Reactor Maven multi-módulo, Shared Kernel, Docker Compose y Gateway</a:t>
                      </a:r>
                    </a:p>
                  </a:txBody>
                  <a:tcPr>
                    <a:solidFill>
                      <a:srgbClr val="FFFFFF"/>
                    </a:solidFill>
                  </a:tcPr>
                </a:tc>
                <a:tc>
                  <a:txBody>
                    <a:bodyPr/>
                    <a:lstStyle/>
                    <a:p>
                      <a:pPr>
                        <a:defRPr sz="1000">
                          <a:solidFill>
                            <a:srgbClr val="0F172A"/>
                          </a:solidFill>
                        </a:defRPr>
                      </a:pPr>
                      <a:r>
                        <a:t>R. Mendoza (08-11 Set)</a:t>
                      </a:r>
                    </a:p>
                  </a:txBody>
                  <a:tcPr>
                    <a:solidFill>
                      <a:srgbClr val="FFFFFF"/>
                    </a:solidFill>
                  </a:tcPr>
                </a:tc>
              </a:tr>
              <a:tr h="493776">
                <a:tc>
                  <a:txBody>
                    <a:bodyPr/>
                    <a:lstStyle/>
                    <a:p>
                      <a:pPr>
                        <a:defRPr sz="1000">
                          <a:solidFill>
                            <a:srgbClr val="0F172A"/>
                          </a:solidFill>
                        </a:defRPr>
                      </a:pPr>
                      <a:r>
                        <a:t>Sprint 2 (S3)</a:t>
                      </a:r>
                    </a:p>
                  </a:txBody>
                  <a:tcPr>
                    <a:solidFill>
                      <a:srgbClr val="F1F5F9"/>
                    </a:solidFill>
                  </a:tcPr>
                </a:tc>
                <a:tc>
                  <a:txBody>
                    <a:bodyPr/>
                    <a:lstStyle/>
                    <a:p>
                      <a:pPr>
                        <a:defRPr sz="1000">
                          <a:solidFill>
                            <a:srgbClr val="0F172A"/>
                          </a:solidFill>
                        </a:defRPr>
                      </a:pPr>
                      <a:r>
                        <a:t>Auth &amp; Ley 29733</a:t>
                      </a:r>
                    </a:p>
                  </a:txBody>
                  <a:tcPr>
                    <a:solidFill>
                      <a:srgbClr val="F1F5F9"/>
                    </a:solidFill>
                  </a:tcPr>
                </a:tc>
                <a:tc>
                  <a:txBody>
                    <a:bodyPr/>
                    <a:lstStyle/>
                    <a:p>
                      <a:pPr>
                        <a:defRPr sz="1000">
                          <a:solidFill>
                            <a:srgbClr val="0F172A"/>
                          </a:solidFill>
                        </a:defRPr>
                      </a:pPr>
                      <a:r>
                        <a:t>Microservicio Auth, PostgreSQL, BCrypt, Honeypot y cookies</a:t>
                      </a:r>
                    </a:p>
                  </a:txBody>
                  <a:tcPr>
                    <a:solidFill>
                      <a:srgbClr val="F1F5F9"/>
                    </a:solidFill>
                  </a:tcPr>
                </a:tc>
                <a:tc>
                  <a:txBody>
                    <a:bodyPr/>
                    <a:lstStyle/>
                    <a:p>
                      <a:pPr>
                        <a:defRPr sz="1000">
                          <a:solidFill>
                            <a:srgbClr val="0F172A"/>
                          </a:solidFill>
                        </a:defRPr>
                      </a:pPr>
                      <a:r>
                        <a:t>L. Herrera (15-19 Set)</a:t>
                      </a:r>
                    </a:p>
                  </a:txBody>
                  <a:tcPr>
                    <a:solidFill>
                      <a:srgbClr val="F1F5F9"/>
                    </a:solidFill>
                  </a:tcPr>
                </a:tc>
              </a:tr>
              <a:tr h="493776">
                <a:tc>
                  <a:txBody>
                    <a:bodyPr/>
                    <a:lstStyle/>
                    <a:p>
                      <a:pPr>
                        <a:defRPr sz="1000">
                          <a:solidFill>
                            <a:srgbClr val="0F172A"/>
                          </a:solidFill>
                        </a:defRPr>
                      </a:pPr>
                      <a:r>
                        <a:t>Sprint 3 (S4)</a:t>
                      </a:r>
                    </a:p>
                  </a:txBody>
                  <a:tcPr>
                    <a:solidFill>
                      <a:srgbClr val="FFFFFF"/>
                    </a:solidFill>
                  </a:tcPr>
                </a:tc>
                <a:tc>
                  <a:txBody>
                    <a:bodyPr/>
                    <a:lstStyle/>
                    <a:p>
                      <a:pPr>
                        <a:defRPr sz="1000">
                          <a:solidFill>
                            <a:srgbClr val="0F172A"/>
                          </a:solidFill>
                        </a:defRPr>
                      </a:pPr>
                      <a:r>
                        <a:t>Inventario Geocercano</a:t>
                      </a:r>
                    </a:p>
                  </a:txBody>
                  <a:tcPr>
                    <a:solidFill>
                      <a:srgbClr val="FFFFFF"/>
                    </a:solidFill>
                  </a:tcPr>
                </a:tc>
                <a:tc>
                  <a:txBody>
                    <a:bodyPr/>
                    <a:lstStyle/>
                    <a:p>
                      <a:pPr>
                        <a:defRPr sz="1000">
                          <a:solidFill>
                            <a:srgbClr val="0F172A"/>
                          </a:solidFill>
                        </a:defRPr>
                      </a:pPr>
                      <a:r>
                        <a:t>Algoritmo Haversine, búsqueda reactiva, 15 sedes y minimapa</a:t>
                      </a:r>
                    </a:p>
                  </a:txBody>
                  <a:tcPr>
                    <a:solidFill>
                      <a:srgbClr val="FFFFFF"/>
                    </a:solidFill>
                  </a:tcPr>
                </a:tc>
                <a:tc>
                  <a:txBody>
                    <a:bodyPr/>
                    <a:lstStyle/>
                    <a:p>
                      <a:pPr>
                        <a:defRPr sz="1000">
                          <a:solidFill>
                            <a:srgbClr val="0F172A"/>
                          </a:solidFill>
                        </a:defRPr>
                      </a:pPr>
                      <a:r>
                        <a:t>R. Mendoza / L. Herrera</a:t>
                      </a:r>
                    </a:p>
                  </a:txBody>
                  <a:tcPr>
                    <a:solidFill>
                      <a:srgbClr val="FFFFFF"/>
                    </a:solidFill>
                  </a:tcPr>
                </a:tc>
              </a:tr>
              <a:tr h="493776">
                <a:tc>
                  <a:txBody>
                    <a:bodyPr/>
                    <a:lstStyle/>
                    <a:p>
                      <a:pPr>
                        <a:defRPr sz="1000">
                          <a:solidFill>
                            <a:srgbClr val="0F172A"/>
                          </a:solidFill>
                        </a:defRPr>
                      </a:pPr>
                      <a:r>
                        <a:t>Sprint 4 (S5)</a:t>
                      </a:r>
                    </a:p>
                  </a:txBody>
                  <a:tcPr>
                    <a:solidFill>
                      <a:srgbClr val="F1F5F9"/>
                    </a:solidFill>
                  </a:tcPr>
                </a:tc>
                <a:tc>
                  <a:txBody>
                    <a:bodyPr/>
                    <a:lstStyle/>
                    <a:p>
                      <a:pPr>
                        <a:defRPr sz="1000">
                          <a:solidFill>
                            <a:srgbClr val="0F172A"/>
                          </a:solidFill>
                        </a:defRPr>
                      </a:pPr>
                      <a:r>
                        <a:t>Productos &amp; Kardex</a:t>
                      </a:r>
                    </a:p>
                  </a:txBody>
                  <a:tcPr>
                    <a:solidFill>
                      <a:srgbClr val="F1F5F9"/>
                    </a:solidFill>
                  </a:tcPr>
                </a:tc>
                <a:tc>
                  <a:txBody>
                    <a:bodyPr/>
                    <a:lstStyle/>
                    <a:p>
                      <a:pPr>
                        <a:defRPr sz="1000">
                          <a:solidFill>
                            <a:srgbClr val="0F172A"/>
                          </a:solidFill>
                        </a:defRPr>
                      </a:pPr>
                      <a:r>
                        <a:t>Vademécum, marcas vs genéricos, trazabilidad FEFO BPA DIGEMID</a:t>
                      </a:r>
                    </a:p>
                  </a:txBody>
                  <a:tcPr>
                    <a:solidFill>
                      <a:srgbClr val="F1F5F9"/>
                    </a:solidFill>
                  </a:tcPr>
                </a:tc>
                <a:tc>
                  <a:txBody>
                    <a:bodyPr/>
                    <a:lstStyle/>
                    <a:p>
                      <a:pPr>
                        <a:defRPr sz="1000">
                          <a:solidFill>
                            <a:srgbClr val="0F172A"/>
                          </a:solidFill>
                        </a:defRPr>
                      </a:pPr>
                      <a:r>
                        <a:t>L. Herrera (02-05 Oct)</a:t>
                      </a:r>
                    </a:p>
                  </a:txBody>
                  <a:tcPr>
                    <a:solidFill>
                      <a:srgbClr val="F1F5F9"/>
                    </a:solidFill>
                  </a:tcPr>
                </a:tc>
              </a:tr>
              <a:tr h="493776">
                <a:tc>
                  <a:txBody>
                    <a:bodyPr/>
                    <a:lstStyle/>
                    <a:p>
                      <a:pPr>
                        <a:defRPr sz="1000">
                          <a:solidFill>
                            <a:srgbClr val="0F172A"/>
                          </a:solidFill>
                        </a:defRPr>
                      </a:pPr>
                      <a:r>
                        <a:t>Sprint 5 (S6)</a:t>
                      </a:r>
                    </a:p>
                  </a:txBody>
                  <a:tcPr>
                    <a:solidFill>
                      <a:srgbClr val="FFFFFF"/>
                    </a:solidFill>
                  </a:tcPr>
                </a:tc>
                <a:tc>
                  <a:txBody>
                    <a:bodyPr/>
                    <a:lstStyle/>
                    <a:p>
                      <a:pPr>
                        <a:defRPr sz="1000">
                          <a:solidFill>
                            <a:srgbClr val="0F172A"/>
                          </a:solidFill>
                        </a:defRPr>
                      </a:pPr>
                      <a:r>
                        <a:t>Gestión de Sedes</a:t>
                      </a:r>
                    </a:p>
                  </a:txBody>
                  <a:tcPr>
                    <a:solidFill>
                      <a:srgbClr val="FFFFFF"/>
                    </a:solidFill>
                  </a:tcPr>
                </a:tc>
                <a:tc>
                  <a:txBody>
                    <a:bodyPr/>
                    <a:lstStyle/>
                    <a:p>
                      <a:pPr>
                        <a:defRPr sz="1000">
                          <a:solidFill>
                            <a:srgbClr val="0F172A"/>
                          </a:solidFill>
                        </a:defRPr>
                      </a:pPr>
                      <a:r>
                        <a:t>Ficha Técnica 360°, geocodificación, métricas de rotación</a:t>
                      </a:r>
                    </a:p>
                  </a:txBody>
                  <a:tcPr>
                    <a:solidFill>
                      <a:srgbClr val="FFFFFF"/>
                    </a:solidFill>
                  </a:tcPr>
                </a:tc>
                <a:tc>
                  <a:txBody>
                    <a:bodyPr/>
                    <a:lstStyle/>
                    <a:p>
                      <a:pPr>
                        <a:defRPr sz="1000">
                          <a:solidFill>
                            <a:srgbClr val="0F172A"/>
                          </a:solidFill>
                        </a:defRPr>
                      </a:pPr>
                      <a:r>
                        <a:t>L. Herrera (09-12 Oct)</a:t>
                      </a:r>
                    </a:p>
                  </a:txBody>
                  <a:tcPr>
                    <a:solidFill>
                      <a:srgbClr val="FFFFFF"/>
                    </a:solidFill>
                  </a:tcPr>
                </a:tc>
              </a:tr>
              <a:tr h="493776">
                <a:tc>
                  <a:txBody>
                    <a:bodyPr/>
                    <a:lstStyle/>
                    <a:p>
                      <a:pPr>
                        <a:defRPr sz="1000">
                          <a:solidFill>
                            <a:srgbClr val="0F172A"/>
                          </a:solidFill>
                        </a:defRPr>
                      </a:pPr>
                      <a:r>
                        <a:t>Sprint 6 (S7)</a:t>
                      </a:r>
                    </a:p>
                  </a:txBody>
                  <a:tcPr>
                    <a:solidFill>
                      <a:srgbClr val="F1F5F9"/>
                    </a:solidFill>
                  </a:tcPr>
                </a:tc>
                <a:tc>
                  <a:txBody>
                    <a:bodyPr/>
                    <a:lstStyle/>
                    <a:p>
                      <a:pPr>
                        <a:defRPr sz="1000">
                          <a:solidFill>
                            <a:srgbClr val="0F172A"/>
                          </a:solidFill>
                        </a:defRPr>
                      </a:pPr>
                      <a:r>
                        <a:t>Alertas Predictivas IA</a:t>
                      </a:r>
                    </a:p>
                  </a:txBody>
                  <a:tcPr>
                    <a:solidFill>
                      <a:srgbClr val="F1F5F9"/>
                    </a:solidFill>
                  </a:tcPr>
                </a:tc>
                <a:tc>
                  <a:txBody>
                    <a:bodyPr/>
                    <a:lstStyle/>
                    <a:p>
                      <a:pPr>
                        <a:defRPr sz="1000">
                          <a:solidFill>
                            <a:srgbClr val="0F172A"/>
                          </a:solidFill>
                        </a:defRPr>
                      </a:pPr>
                      <a:r>
                        <a:t>Motor IA consumo diario, predicción 7 días y autonomía</a:t>
                      </a:r>
                    </a:p>
                  </a:txBody>
                  <a:tcPr>
                    <a:solidFill>
                      <a:srgbClr val="F1F5F9"/>
                    </a:solidFill>
                  </a:tcPr>
                </a:tc>
                <a:tc>
                  <a:txBody>
                    <a:bodyPr/>
                    <a:lstStyle/>
                    <a:p>
                      <a:pPr>
                        <a:defRPr sz="1000">
                          <a:solidFill>
                            <a:srgbClr val="0F172A"/>
                          </a:solidFill>
                        </a:defRPr>
                      </a:pPr>
                      <a:r>
                        <a:t>R. Mendoza (15-18 Oct)</a:t>
                      </a:r>
                    </a:p>
                  </a:txBody>
                  <a:tcPr>
                    <a:solidFill>
                      <a:srgbClr val="F1F5F9"/>
                    </a:solidFill>
                  </a:tcPr>
                </a:tc>
              </a:tr>
              <a:tr h="493776">
                <a:tc>
                  <a:txBody>
                    <a:bodyPr/>
                    <a:lstStyle/>
                    <a:p>
                      <a:pPr>
                        <a:defRPr sz="1000">
                          <a:solidFill>
                            <a:srgbClr val="0F172A"/>
                          </a:solidFill>
                        </a:defRPr>
                      </a:pPr>
                      <a:r>
                        <a:t>Sprint 7 (S8)</a:t>
                      </a:r>
                    </a:p>
                  </a:txBody>
                  <a:tcPr>
                    <a:solidFill>
                      <a:srgbClr val="FFFFFF"/>
                    </a:solidFill>
                  </a:tcPr>
                </a:tc>
                <a:tc>
                  <a:txBody>
                    <a:bodyPr/>
                    <a:lstStyle/>
                    <a:p>
                      <a:pPr>
                        <a:defRPr sz="1000">
                          <a:solidFill>
                            <a:srgbClr val="0F172A"/>
                          </a:solidFill>
                        </a:defRPr>
                      </a:pPr>
                      <a:r>
                        <a:t>Traslados &amp; GRE SUNAT</a:t>
                      </a:r>
                    </a:p>
                  </a:txBody>
                  <a:tcPr>
                    <a:solidFill>
                      <a:srgbClr val="FFFFFF"/>
                    </a:solidFill>
                  </a:tcPr>
                </a:tc>
                <a:tc>
                  <a:txBody>
                    <a:bodyPr/>
                    <a:lstStyle/>
                    <a:p>
                      <a:pPr>
                        <a:defRPr sz="1000">
                          <a:solidFill>
                            <a:srgbClr val="0F172A"/>
                          </a:solidFill>
                        </a:defRPr>
                      </a:pPr>
                      <a:r>
                        <a:t>Compensación inter-sedes, Guía de Remisión Electrónica y QR</a:t>
                      </a:r>
                    </a:p>
                  </a:txBody>
                  <a:tcPr>
                    <a:solidFill>
                      <a:srgbClr val="FFFFFF"/>
                    </a:solidFill>
                  </a:tcPr>
                </a:tc>
                <a:tc>
                  <a:txBody>
                    <a:bodyPr/>
                    <a:lstStyle/>
                    <a:p>
                      <a:pPr>
                        <a:defRPr sz="1000">
                          <a:solidFill>
                            <a:srgbClr val="0F172A"/>
                          </a:solidFill>
                        </a:defRPr>
                      </a:pPr>
                      <a:r>
                        <a:t>R. Mendoza (21-23 Oct)</a:t>
                      </a:r>
                    </a:p>
                  </a:txBody>
                  <a:tcPr>
                    <a:solidFill>
                      <a:srgbClr val="FFFFFF"/>
                    </a:solidFill>
                  </a:tcPr>
                </a:tc>
              </a:tr>
              <a:tr h="493776">
                <a:tc>
                  <a:txBody>
                    <a:bodyPr/>
                    <a:lstStyle/>
                    <a:p>
                      <a:pPr>
                        <a:defRPr sz="1000">
                          <a:solidFill>
                            <a:srgbClr val="0F172A"/>
                          </a:solidFill>
                        </a:defRPr>
                      </a:pPr>
                      <a:r>
                        <a:t>Sprint 8 (S9)</a:t>
                      </a:r>
                    </a:p>
                  </a:txBody>
                  <a:tcPr>
                    <a:solidFill>
                      <a:srgbClr val="F1F5F9"/>
                    </a:solidFill>
                  </a:tcPr>
                </a:tc>
                <a:tc>
                  <a:txBody>
                    <a:bodyPr/>
                    <a:lstStyle/>
                    <a:p>
                      <a:pPr>
                        <a:defRPr sz="1000">
                          <a:solidFill>
                            <a:srgbClr val="0F172A"/>
                          </a:solidFill>
                        </a:defRPr>
                      </a:pPr>
                      <a:r>
                        <a:t>UI/UX &amp; Modales</a:t>
                      </a:r>
                    </a:p>
                  </a:txBody>
                  <a:tcPr>
                    <a:solidFill>
                      <a:srgbClr val="F1F5F9"/>
                    </a:solidFill>
                  </a:tcPr>
                </a:tc>
                <a:tc>
                  <a:txBody>
                    <a:bodyPr/>
                    <a:lstStyle/>
                    <a:p>
                      <a:pPr>
                        <a:defRPr sz="1000">
                          <a:solidFill>
                            <a:srgbClr val="0F172A"/>
                          </a:solidFill>
                        </a:defRPr>
                      </a:pPr>
                      <a:r>
                        <a:t>Layout widescreen fluido, sidebar sticky, Escape y backdrop click</a:t>
                      </a:r>
                    </a:p>
                  </a:txBody>
                  <a:tcPr>
                    <a:solidFill>
                      <a:srgbClr val="F1F5F9"/>
                    </a:solidFill>
                  </a:tcPr>
                </a:tc>
                <a:tc>
                  <a:txBody>
                    <a:bodyPr/>
                    <a:lstStyle/>
                    <a:p>
                      <a:pPr>
                        <a:defRPr sz="1000">
                          <a:solidFill>
                            <a:srgbClr val="0F172A"/>
                          </a:solidFill>
                        </a:defRPr>
                      </a:pPr>
                      <a:r>
                        <a:t>L. Herrera (24-25 Oct)</a:t>
                      </a:r>
                    </a:p>
                  </a:txBody>
                  <a:tcPr>
                    <a:solidFill>
                      <a:srgbClr val="F1F5F9"/>
                    </a:solidFill>
                  </a:tcPr>
                </a:tc>
              </a:tr>
              <a:tr h="493776">
                <a:tc>
                  <a:txBody>
                    <a:bodyPr/>
                    <a:lstStyle/>
                    <a:p>
                      <a:pPr>
                        <a:defRPr sz="1000">
                          <a:solidFill>
                            <a:srgbClr val="0F172A"/>
                          </a:solidFill>
                        </a:defRPr>
                      </a:pPr>
                      <a:r>
                        <a:t>Sprint 9 (S10)</a:t>
                      </a:r>
                    </a:p>
                  </a:txBody>
                  <a:tcPr>
                    <a:solidFill>
                      <a:srgbClr val="FFFFFF"/>
                    </a:solidFill>
                  </a:tcPr>
                </a:tc>
                <a:tc>
                  <a:txBody>
                    <a:bodyPr/>
                    <a:lstStyle/>
                    <a:p>
                      <a:pPr>
                        <a:defRPr sz="1000">
                          <a:solidFill>
                            <a:srgbClr val="0F172A"/>
                          </a:solidFill>
                        </a:defRPr>
                      </a:pPr>
                      <a:r>
                        <a:t>QA &amp; Sustentación</a:t>
                      </a:r>
                    </a:p>
                  </a:txBody>
                  <a:tcPr>
                    <a:solidFill>
                      <a:srgbClr val="FFFFFF"/>
                    </a:solidFill>
                  </a:tcPr>
                </a:tc>
                <a:tc>
                  <a:txBody>
                    <a:bodyPr/>
                    <a:lstStyle/>
                    <a:p>
                      <a:pPr>
                        <a:defRPr sz="1000">
                          <a:solidFill>
                            <a:srgbClr val="0F172A"/>
                          </a:solidFill>
                        </a:defRPr>
                      </a:pPr>
                      <a:r>
                        <a:t>Suite E2E, exportador Apache POI, Logback y presentación PPTX</a:t>
                      </a:r>
                    </a:p>
                  </a:txBody>
                  <a:tcPr>
                    <a:solidFill>
                      <a:srgbClr val="FFFFFF"/>
                    </a:solidFill>
                  </a:tcPr>
                </a:tc>
                <a:tc>
                  <a:txBody>
                    <a:bodyPr/>
                    <a:lstStyle/>
                    <a:p>
                      <a:pPr>
                        <a:defRPr sz="1000">
                          <a:solidFill>
                            <a:srgbClr val="0F172A"/>
                          </a:solidFill>
                        </a:defRPr>
                      </a:pPr>
                      <a:r>
                        <a:t>R. Mendoza (25 Oct)</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DISEÑO DE LA SOLUCIÓN</a:t>
            </a:r>
          </a:p>
          <a:p>
            <a:pPr>
              <a:spcBef>
                <a:spcPts val="200"/>
              </a:spcBef>
              <a:defRPr sz="2200" b="1">
                <a:solidFill>
                  <a:srgbClr val="FFFFFF"/>
                </a:solidFill>
              </a:defRPr>
            </a:pPr>
            <a:r>
              <a:t>Alcance Reportado del Proyecto SIIP</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ectangle 7"/>
          <p:cNvSpPr/>
          <p:nvPr/>
        </p:nvSpPr>
        <p:spPr>
          <a:xfrm>
            <a:off x="731520" y="1645920"/>
            <a:ext cx="10698480" cy="4114800"/>
          </a:xfrm>
          <a:prstGeom prst="rect">
            <a:avLst/>
          </a:prstGeom>
          <a:solidFill>
            <a:srgbClr val="F5F7FA"/>
          </a:solidFill>
          <a:ln w="3810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828800"/>
            <a:ext cx="10058400" cy="457200"/>
          </a:xfrm>
          <a:prstGeom prst="rect">
            <a:avLst/>
          </a:prstGeom>
          <a:noFill/>
        </p:spPr>
        <p:txBody>
          <a:bodyPr wrap="none">
            <a:spAutoFit/>
          </a:bodyPr>
          <a:lstStyle/>
          <a:p>
            <a:pPr>
              <a:defRPr b="1" sz="1300">
                <a:solidFill>
                  <a:srgbClr val="00BFA5"/>
                </a:solidFill>
              </a:defRPr>
            </a:pPr>
            <a:r>
              <a:t>A L C A N C E   R E P O R T A D O</a:t>
            </a:r>
          </a:p>
        </p:txBody>
      </p:sp>
      <p:sp>
        <p:nvSpPr>
          <p:cNvPr id="10" name="TextBox 9"/>
          <p:cNvSpPr txBox="1"/>
          <p:nvPr/>
        </p:nvSpPr>
        <p:spPr>
          <a:xfrm>
            <a:off x="1005840" y="2468880"/>
            <a:ext cx="5029200" cy="2926080"/>
          </a:xfrm>
          <a:prstGeom prst="rect">
            <a:avLst/>
          </a:prstGeom>
          <a:noFill/>
        </p:spPr>
        <p:txBody>
          <a:bodyPr wrap="square">
            <a:spAutoFit/>
          </a:bodyPr>
          <a:lstStyle/>
          <a:p>
            <a:pPr>
              <a:defRPr sz="1350">
                <a:solidFill>
                  <a:srgbClr val="0F172A"/>
                </a:solidFill>
              </a:defRPr>
            </a:pPr>
            <a:r>
              <a:t>•   Base de datos PostgreSQL (8 tablas) con restricciones e índices</a:t>
            </a:r>
          </a:p>
          <a:p>
            <a:pPr>
              <a:spcBef>
                <a:spcPts val="2000"/>
              </a:spcBef>
              <a:defRPr sz="1350">
                <a:solidFill>
                  <a:srgbClr val="0F172A"/>
                </a:solidFill>
              </a:defRPr>
            </a:pPr>
            <a:r>
              <a:t>•   Arquitectura en 4 capas: MVC, DAO, SOLID y TDD</a:t>
            </a:r>
          </a:p>
          <a:p>
            <a:pPr>
              <a:spcBef>
                <a:spcPts val="2000"/>
              </a:spcBef>
              <a:defRPr sz="1350">
                <a:solidFill>
                  <a:srgbClr val="0F172A"/>
                </a:solidFill>
              </a:defRPr>
            </a:pPr>
            <a:r>
              <a:t>•   Motor del índice de impacto y de la prioridad (RF-02, RF-03)</a:t>
            </a:r>
          </a:p>
        </p:txBody>
      </p:sp>
      <p:sp>
        <p:nvSpPr>
          <p:cNvPr id="11" name="TextBox 10"/>
          <p:cNvSpPr txBox="1"/>
          <p:nvPr/>
        </p:nvSpPr>
        <p:spPr>
          <a:xfrm>
            <a:off x="6217920" y="2468880"/>
            <a:ext cx="5029200" cy="2926080"/>
          </a:xfrm>
          <a:prstGeom prst="rect">
            <a:avLst/>
          </a:prstGeom>
          <a:noFill/>
        </p:spPr>
        <p:txBody>
          <a:bodyPr wrap="square">
            <a:spAutoFit/>
          </a:bodyPr>
          <a:lstStyle/>
          <a:p>
            <a:pPr>
              <a:defRPr sz="1350">
                <a:solidFill>
                  <a:srgbClr val="0F172A"/>
                </a:solidFill>
              </a:defRPr>
            </a:pPr>
            <a:r>
              <a:t>•   Registro de incidencias, login por rol y cola base (RF-01, RF-11, RF-05)</a:t>
            </a:r>
          </a:p>
          <a:p>
            <a:pPr>
              <a:spcBef>
                <a:spcPts val="2000"/>
              </a:spcBef>
              <a:defRPr sz="1350">
                <a:solidFill>
                  <a:srgbClr val="0F172A"/>
                </a:solidFill>
              </a:defRPr>
            </a:pPr>
            <a:r>
              <a:t>•   Guava, Apache POI, Apache Commons y Logback integradas</a:t>
            </a:r>
          </a:p>
          <a:p>
            <a:pPr>
              <a:spcBef>
                <a:spcPts val="2000"/>
              </a:spcBef>
              <a:defRPr sz="1350">
                <a:solidFill>
                  <a:srgbClr val="0F172A"/>
                </a:solidFill>
              </a:defRPr>
            </a:pPr>
            <a:r>
              <a:t>•   Git/GitHub con evidencia por commit y Docker sin credenciales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DISEÑO DE LA SOLUCIÓN</a:t>
            </a:r>
          </a:p>
          <a:p>
            <a:pPr>
              <a:spcBef>
                <a:spcPts val="200"/>
              </a:spcBef>
              <a:defRPr sz="2200" b="1">
                <a:solidFill>
                  <a:srgbClr val="FFFFFF"/>
                </a:solidFill>
              </a:defRPr>
            </a:pPr>
            <a:r>
              <a:t>Arquitectura en 4 capas: MVC, DAO, SOLID y TDD</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731520" y="1371600"/>
            <a:ext cx="2377440" cy="457200"/>
          </a:xfrm>
          <a:prstGeom prst="roundRect">
            <a:avLst/>
          </a:prstGeom>
          <a:solidFill>
            <a:srgbClr val="EEF2F6"/>
          </a:solidFill>
          <a:ln>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pPr>
            <a:r>
              <a:t>Navegador</a:t>
            </a:r>
          </a:p>
        </p:txBody>
      </p:sp>
      <p:sp>
        <p:nvSpPr>
          <p:cNvPr id="9" name="Rectangle 8"/>
          <p:cNvSpPr/>
          <p:nvPr/>
        </p:nvSpPr>
        <p:spPr>
          <a:xfrm>
            <a:off x="731520" y="1920240"/>
            <a:ext cx="5029200" cy="411480"/>
          </a:xfrm>
          <a:prstGeom prst="rect">
            <a:avLst/>
          </a:prstGeom>
          <a:solidFill>
            <a:srgbClr val="F0FDFA"/>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002B66"/>
                </a:solidFill>
              </a:defRPr>
            </a:pPr>
            <a:r>
              <a:t>Spring Security: autenticación por rol, CSRF, BCrypt</a:t>
            </a:r>
          </a:p>
        </p:txBody>
      </p:sp>
      <p:sp>
        <p:nvSpPr>
          <p:cNvPr id="10" name="Rounded Rectangle 9"/>
          <p:cNvSpPr/>
          <p:nvPr/>
        </p:nvSpPr>
        <p:spPr>
          <a:xfrm>
            <a:off x="731520" y="2423160"/>
            <a:ext cx="2377440" cy="685800"/>
          </a:xfrm>
          <a:prstGeom prst="roundRect">
            <a:avLst/>
          </a:prstGeom>
          <a:solidFill>
            <a:srgbClr val="FFFFFF"/>
          </a:solidFill>
          <a:ln w="19050">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pPr>
            <a:r>
              <a:t>CONTROLADORES</a:t>
            </a:r>
          </a:p>
          <a:p>
            <a:pPr algn="ctr">
              <a:defRPr sz="850"/>
            </a:pPr>
            <a:r>
              <a:t>Spring MVC • Auth / Traslado</a:t>
            </a:r>
          </a:p>
        </p:txBody>
      </p:sp>
      <p:sp>
        <p:nvSpPr>
          <p:cNvPr id="11" name="Rounded Rectangle 10"/>
          <p:cNvSpPr/>
          <p:nvPr/>
        </p:nvSpPr>
        <p:spPr>
          <a:xfrm>
            <a:off x="3383280" y="2423160"/>
            <a:ext cx="2377440" cy="685800"/>
          </a:xfrm>
          <a:prstGeom prst="roundRect">
            <a:avLst/>
          </a:prstGeom>
          <a:solidFill>
            <a:srgbClr val="EEF2F6"/>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pPr>
            <a:r>
              <a:t>VISTAS</a:t>
            </a:r>
          </a:p>
          <a:p>
            <a:pPr algn="ctr">
              <a:defRPr sz="850"/>
            </a:pPr>
            <a:r>
              <a:t>React Vite + CSS • login, panel</a:t>
            </a:r>
          </a:p>
        </p:txBody>
      </p:sp>
      <p:sp>
        <p:nvSpPr>
          <p:cNvPr id="12" name="Rounded Rectangle 11"/>
          <p:cNvSpPr/>
          <p:nvPr/>
        </p:nvSpPr>
        <p:spPr>
          <a:xfrm>
            <a:off x="731520" y="3246120"/>
            <a:ext cx="2377440" cy="685800"/>
          </a:xfrm>
          <a:prstGeom prst="roundRect">
            <a:avLst/>
          </a:prstGeom>
          <a:solidFill>
            <a:srgbClr val="F0FDFA"/>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pPr>
            <a:r>
              <a:t>SERVICIOS</a:t>
            </a:r>
          </a:p>
          <a:p>
            <a:pPr algn="ctr">
              <a:defRPr sz="850"/>
            </a:pPr>
            <a:r>
              <a:t>AuthService • TrasladoService</a:t>
            </a:r>
          </a:p>
        </p:txBody>
      </p:sp>
      <p:sp>
        <p:nvSpPr>
          <p:cNvPr id="13" name="Rounded Rectangle 12"/>
          <p:cNvSpPr/>
          <p:nvPr/>
        </p:nvSpPr>
        <p:spPr>
          <a:xfrm>
            <a:off x="3383280" y="3246120"/>
            <a:ext cx="2377440" cy="6858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pPr>
            <a:r>
              <a:t>Librerías de apoyo</a:t>
            </a:r>
          </a:p>
          <a:p>
            <a:pPr algn="ctr">
              <a:defRPr sz="850"/>
            </a:pPr>
            <a:r>
              <a:t>Guava • POI • Commons • Logback</a:t>
            </a:r>
          </a:p>
        </p:txBody>
      </p:sp>
      <p:sp>
        <p:nvSpPr>
          <p:cNvPr id="14" name="Rounded Rectangle 13"/>
          <p:cNvSpPr/>
          <p:nvPr/>
        </p:nvSpPr>
        <p:spPr>
          <a:xfrm>
            <a:off x="731520" y="4069080"/>
            <a:ext cx="2377440" cy="685800"/>
          </a:xfrm>
          <a:prstGeom prst="roundRect">
            <a:avLst/>
          </a:prstGeom>
          <a:solidFill>
            <a:srgbClr val="FFFFFF"/>
          </a:solidFill>
          <a:ln w="19050">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pPr>
            <a:r>
              <a:t>DAO</a:t>
            </a:r>
          </a:p>
          <a:p>
            <a:pPr algn="ctr">
              <a:defRPr sz="850"/>
            </a:pPr>
            <a:r>
              <a:t>Spring Data JPA • UsuarioDao</a:t>
            </a:r>
          </a:p>
        </p:txBody>
      </p:sp>
      <p:sp>
        <p:nvSpPr>
          <p:cNvPr id="15" name="Rounded Rectangle 14"/>
          <p:cNvSpPr/>
          <p:nvPr/>
        </p:nvSpPr>
        <p:spPr>
          <a:xfrm>
            <a:off x="3383280" y="4069080"/>
            <a:ext cx="2377440" cy="685800"/>
          </a:xfrm>
          <a:prstGeom prst="roundRect">
            <a:avLst/>
          </a:prstGeom>
          <a:solidFill>
            <a:srgbClr val="EEF2F6"/>
          </a:solidFill>
          <a:ln>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pPr>
            <a:r>
              <a:t>PostgreSQL</a:t>
            </a:r>
          </a:p>
          <a:p>
            <a:pPr algn="ctr">
              <a:defRPr sz="850"/>
            </a:pPr>
            <a:r>
              <a:t>8 tablas con índices</a:t>
            </a:r>
          </a:p>
        </p:txBody>
      </p:sp>
      <p:sp>
        <p:nvSpPr>
          <p:cNvPr id="16" name="Rectangle 15"/>
          <p:cNvSpPr/>
          <p:nvPr/>
        </p:nvSpPr>
        <p:spPr>
          <a:xfrm>
            <a:off x="6035040" y="1371600"/>
            <a:ext cx="1097280" cy="731520"/>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MVC</a:t>
            </a:r>
          </a:p>
        </p:txBody>
      </p:sp>
      <p:sp>
        <p:nvSpPr>
          <p:cNvPr id="17" name="Rectangle 16"/>
          <p:cNvSpPr/>
          <p:nvPr/>
        </p:nvSpPr>
        <p:spPr>
          <a:xfrm>
            <a:off x="7132320" y="1371600"/>
            <a:ext cx="4297680" cy="731520"/>
          </a:xfrm>
          <a:prstGeom prst="rect">
            <a:avLst/>
          </a:prstGeom>
          <a:solidFill>
            <a:srgbClr val="EEF2F6"/>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Controladores, servicios y vistas separados.</a:t>
            </a:r>
          </a:p>
        </p:txBody>
      </p:sp>
      <p:sp>
        <p:nvSpPr>
          <p:cNvPr id="18" name="Rectangle 17"/>
          <p:cNvSpPr/>
          <p:nvPr/>
        </p:nvSpPr>
        <p:spPr>
          <a:xfrm>
            <a:off x="6035040" y="2240280"/>
            <a:ext cx="1097280" cy="731520"/>
          </a:xfrm>
          <a:prstGeom prst="rect">
            <a:avLst/>
          </a:prstGeom>
          <a:solidFill>
            <a:srgbClr val="00B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DAO</a:t>
            </a:r>
          </a:p>
        </p:txBody>
      </p:sp>
      <p:sp>
        <p:nvSpPr>
          <p:cNvPr id="19" name="Rectangle 18"/>
          <p:cNvSpPr/>
          <p:nvPr/>
        </p:nvSpPr>
        <p:spPr>
          <a:xfrm>
            <a:off x="7132320" y="2240280"/>
            <a:ext cx="4297680" cy="731520"/>
          </a:xfrm>
          <a:prstGeom prst="rect">
            <a:avLst/>
          </a:prstGeom>
          <a:solidFill>
            <a:srgbClr val="EEF2F6"/>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Interfaces *Dao con Spring Data JPA; los servicios no escriben SQL.</a:t>
            </a:r>
          </a:p>
        </p:txBody>
      </p:sp>
      <p:sp>
        <p:nvSpPr>
          <p:cNvPr id="20" name="Rectangle 19"/>
          <p:cNvSpPr/>
          <p:nvPr/>
        </p:nvSpPr>
        <p:spPr>
          <a:xfrm>
            <a:off x="6035040" y="3108960"/>
            <a:ext cx="1097280" cy="7315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SOLID</a:t>
            </a:r>
          </a:p>
        </p:txBody>
      </p:sp>
      <p:sp>
        <p:nvSpPr>
          <p:cNvPr id="21" name="Rectangle 20"/>
          <p:cNvSpPr/>
          <p:nvPr/>
        </p:nvSpPr>
        <p:spPr>
          <a:xfrm>
            <a:off x="7132320" y="3108960"/>
            <a:ext cx="4297680" cy="731520"/>
          </a:xfrm>
          <a:prstGeom prst="rect">
            <a:avLst/>
          </a:prstGeom>
          <a:solidFill>
            <a:srgbClr val="EEF2F6"/>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CalculadorImpacto / AuthService (interfaz) + inyección por constructor.</a:t>
            </a:r>
          </a:p>
        </p:txBody>
      </p:sp>
      <p:sp>
        <p:nvSpPr>
          <p:cNvPr id="22" name="Rectangle 21"/>
          <p:cNvSpPr/>
          <p:nvPr/>
        </p:nvSpPr>
        <p:spPr>
          <a:xfrm>
            <a:off x="6035040" y="3977640"/>
            <a:ext cx="1097280" cy="73152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TDD</a:t>
            </a:r>
          </a:p>
        </p:txBody>
      </p:sp>
      <p:sp>
        <p:nvSpPr>
          <p:cNvPr id="23" name="Rectangle 22"/>
          <p:cNvSpPr/>
          <p:nvPr/>
        </p:nvSpPr>
        <p:spPr>
          <a:xfrm>
            <a:off x="7132320" y="3977640"/>
            <a:ext cx="4297680" cy="731520"/>
          </a:xfrm>
          <a:prstGeom prst="rect">
            <a:avLst/>
          </a:prstGeom>
          <a:solidFill>
            <a:srgbClr val="EEF2F6"/>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AuthServiceImplTest / ImpactoTest se escribe antes de la implementación.</a:t>
            </a:r>
          </a:p>
        </p:txBody>
      </p:sp>
      <p:sp>
        <p:nvSpPr>
          <p:cNvPr id="24" name="TextBox 23"/>
          <p:cNvSpPr txBox="1"/>
          <p:nvPr/>
        </p:nvSpPr>
        <p:spPr>
          <a:xfrm>
            <a:off x="731520" y="4937760"/>
            <a:ext cx="10698480" cy="274320"/>
          </a:xfrm>
          <a:prstGeom prst="rect">
            <a:avLst/>
          </a:prstGeom>
          <a:noFill/>
        </p:spPr>
        <p:txBody>
          <a:bodyPr wrap="none">
            <a:spAutoFit/>
          </a:bodyPr>
          <a:lstStyle/>
          <a:p>
            <a:pPr>
              <a:defRPr b="1" sz="1000">
                <a:solidFill>
                  <a:srgbClr val="EA580C"/>
                </a:solidFill>
              </a:defRPr>
            </a:pPr>
            <a:r>
              <a:t>S E G U R I D A D</a:t>
            </a:r>
          </a:p>
        </p:txBody>
      </p:sp>
      <p:sp>
        <p:nvSpPr>
          <p:cNvPr id="25" name="Rounded Rectangle 24"/>
          <p:cNvSpPr/>
          <p:nvPr/>
        </p:nvSpPr>
        <p:spPr>
          <a:xfrm>
            <a:off x="731520" y="5303520"/>
            <a:ext cx="1444752" cy="457200"/>
          </a:xfrm>
          <a:prstGeom prst="roundRect">
            <a:avLst/>
          </a:prstGeom>
          <a:solidFill>
            <a:srgbClr val="FFFFFF"/>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850">
                <a:solidFill>
                  <a:srgbClr val="002B66"/>
                </a:solidFill>
              </a:defRPr>
            </a:pPr>
            <a:r>
              <a:t>Hash BCrypt</a:t>
            </a:r>
          </a:p>
        </p:txBody>
      </p:sp>
      <p:sp>
        <p:nvSpPr>
          <p:cNvPr id="26" name="Rounded Rectangle 25"/>
          <p:cNvSpPr/>
          <p:nvPr/>
        </p:nvSpPr>
        <p:spPr>
          <a:xfrm>
            <a:off x="2276856" y="5303520"/>
            <a:ext cx="1444752" cy="457200"/>
          </a:xfrm>
          <a:prstGeom prst="roundRect">
            <a:avLst/>
          </a:prstGeom>
          <a:solidFill>
            <a:srgbClr val="FFFFFF"/>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850">
                <a:solidFill>
                  <a:srgbClr val="002B66"/>
                </a:solidFill>
              </a:defRPr>
            </a:pPr>
            <a:r>
              <a:t>Acceso por rol</a:t>
            </a:r>
          </a:p>
        </p:txBody>
      </p:sp>
      <p:sp>
        <p:nvSpPr>
          <p:cNvPr id="27" name="Rounded Rectangle 26"/>
          <p:cNvSpPr/>
          <p:nvPr/>
        </p:nvSpPr>
        <p:spPr>
          <a:xfrm>
            <a:off x="3822192" y="5303520"/>
            <a:ext cx="1444752" cy="457200"/>
          </a:xfrm>
          <a:prstGeom prst="roundRect">
            <a:avLst/>
          </a:prstGeom>
          <a:solidFill>
            <a:srgbClr val="FFFFFF"/>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850">
                <a:solidFill>
                  <a:srgbClr val="002B66"/>
                </a:solidFill>
              </a:defRPr>
            </a:pPr>
            <a:r>
              <a:t>CSRF</a:t>
            </a:r>
          </a:p>
        </p:txBody>
      </p:sp>
      <p:sp>
        <p:nvSpPr>
          <p:cNvPr id="28" name="Rounded Rectangle 27"/>
          <p:cNvSpPr/>
          <p:nvPr/>
        </p:nvSpPr>
        <p:spPr>
          <a:xfrm>
            <a:off x="5367528" y="5303520"/>
            <a:ext cx="1444752" cy="457200"/>
          </a:xfrm>
          <a:prstGeom prst="roundRect">
            <a:avLst/>
          </a:prstGeom>
          <a:solidFill>
            <a:srgbClr val="FFFFFF"/>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850">
                <a:solidFill>
                  <a:srgbClr val="002B66"/>
                </a:solidFill>
              </a:defRPr>
            </a:pPr>
            <a:r>
              <a:t>Bloqueo a los 5 intentos</a:t>
            </a:r>
          </a:p>
        </p:txBody>
      </p:sp>
      <p:sp>
        <p:nvSpPr>
          <p:cNvPr id="29" name="Rounded Rectangle 28"/>
          <p:cNvSpPr/>
          <p:nvPr/>
        </p:nvSpPr>
        <p:spPr>
          <a:xfrm>
            <a:off x="6912864" y="5303520"/>
            <a:ext cx="1444752" cy="457200"/>
          </a:xfrm>
          <a:prstGeom prst="roundRect">
            <a:avLst/>
          </a:prstGeom>
          <a:solidFill>
            <a:srgbClr val="FFFFFF"/>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850">
                <a:solidFill>
                  <a:srgbClr val="002B66"/>
                </a:solidFill>
              </a:defRPr>
            </a:pPr>
            <a:r>
              <a:t>Validación y escape</a:t>
            </a:r>
          </a:p>
        </p:txBody>
      </p:sp>
      <p:sp>
        <p:nvSpPr>
          <p:cNvPr id="30" name="Rounded Rectangle 29"/>
          <p:cNvSpPr/>
          <p:nvPr/>
        </p:nvSpPr>
        <p:spPr>
          <a:xfrm>
            <a:off x="8458200" y="5303520"/>
            <a:ext cx="1444752" cy="457200"/>
          </a:xfrm>
          <a:prstGeom prst="roundRect">
            <a:avLst/>
          </a:prstGeom>
          <a:solidFill>
            <a:srgbClr val="FFFFFF"/>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850">
                <a:solidFill>
                  <a:srgbClr val="002B66"/>
                </a:solidFill>
              </a:defRPr>
            </a:pPr>
            <a:r>
              <a:t>Auditoría en log</a:t>
            </a:r>
          </a:p>
        </p:txBody>
      </p:sp>
      <p:sp>
        <p:nvSpPr>
          <p:cNvPr id="31" name="Rounded Rectangle 30"/>
          <p:cNvSpPr/>
          <p:nvPr/>
        </p:nvSpPr>
        <p:spPr>
          <a:xfrm>
            <a:off x="10003536" y="5303520"/>
            <a:ext cx="1444752" cy="457200"/>
          </a:xfrm>
          <a:prstGeom prst="roundRect">
            <a:avLst/>
          </a:prstGeom>
          <a:solidFill>
            <a:srgbClr val="FFFFFF"/>
          </a:solidFill>
          <a:ln w="19050">
            <a:solidFill>
              <a:srgbClr val="00B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850">
                <a:solidFill>
                  <a:srgbClr val="002B66"/>
                </a:solidFill>
              </a:defRPr>
            </a:pPr>
            <a:r>
              <a:t>Claves fuera del repositorio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DISEÑO DE LA SOLUCIÓN • ESTRUCTURA</a:t>
            </a:r>
          </a:p>
          <a:p>
            <a:pPr>
              <a:spcBef>
                <a:spcPts val="200"/>
              </a:spcBef>
              <a:defRPr sz="2200" b="1">
                <a:solidFill>
                  <a:srgbClr val="FFFFFF"/>
                </a:solidFill>
              </a:defRPr>
            </a:pPr>
            <a:r>
              <a:t>Estructura de paquetes del proyecto</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graphicFrame>
        <p:nvGraphicFramePr>
          <p:cNvPr id="8" name="Table 7"/>
          <p:cNvGraphicFramePr>
            <a:graphicFrameLocks noGrp="1"/>
          </p:cNvGraphicFramePr>
          <p:nvPr/>
        </p:nvGraphicFramePr>
        <p:xfrm>
          <a:off x="731520" y="1280160"/>
          <a:ext cx="10698480" cy="4937760"/>
        </p:xfrm>
        <a:graphic>
          <a:graphicData uri="http://schemas.openxmlformats.org/drawingml/2006/table">
            <a:tbl>
              <a:tblPr firstRow="1" bandRow="1">
                <a:tableStyleId>{5C22544A-7EE6-4342-B048-85BDC9FD1C3A}</a:tableStyleId>
              </a:tblPr>
              <a:tblGrid>
                <a:gridCol w="2011680"/>
                <a:gridCol w="5029200"/>
                <a:gridCol w="3657600"/>
              </a:tblGrid>
              <a:tr h="548640">
                <a:tc>
                  <a:txBody>
                    <a:bodyPr/>
                    <a:lstStyle/>
                    <a:p>
                      <a:pPr>
                        <a:defRPr b="1" sz="1100">
                          <a:solidFill>
                            <a:srgbClr val="FFD100"/>
                          </a:solidFill>
                        </a:defRPr>
                      </a:pPr>
                      <a:r>
                        <a:t>Paquete</a:t>
                      </a:r>
                    </a:p>
                  </a:txBody>
                  <a:tcPr>
                    <a:solidFill>
                      <a:srgbClr val="002B66"/>
                    </a:solidFill>
                  </a:tcPr>
                </a:tc>
                <a:tc>
                  <a:txBody>
                    <a:bodyPr/>
                    <a:lstStyle/>
                    <a:p>
                      <a:pPr>
                        <a:defRPr b="1" sz="1100">
                          <a:solidFill>
                            <a:srgbClr val="FFD100"/>
                          </a:solidFill>
                        </a:defRPr>
                      </a:pPr>
                      <a:r>
                        <a:t>Responsabilidad</a:t>
                      </a:r>
                    </a:p>
                  </a:txBody>
                  <a:tcPr>
                    <a:solidFill>
                      <a:srgbClr val="002B66"/>
                    </a:solidFill>
                  </a:tcPr>
                </a:tc>
                <a:tc>
                  <a:txBody>
                    <a:bodyPr/>
                    <a:lstStyle/>
                    <a:p>
                      <a:pPr>
                        <a:defRPr b="1" sz="1100">
                          <a:solidFill>
                            <a:srgbClr val="FFD100"/>
                          </a:solidFill>
                        </a:defRPr>
                      </a:pPr>
                      <a:r>
                        <a:t>Ejemplos</a:t>
                      </a:r>
                    </a:p>
                  </a:txBody>
                  <a:tcPr>
                    <a:solidFill>
                      <a:srgbClr val="002B66"/>
                    </a:solidFill>
                  </a:tcPr>
                </a:tc>
              </a:tr>
              <a:tr h="548640">
                <a:tc>
                  <a:txBody>
                    <a:bodyPr/>
                    <a:lstStyle/>
                    <a:p>
                      <a:pPr>
                        <a:defRPr sz="1000" b="1">
                          <a:solidFill>
                            <a:srgbClr val="002B66"/>
                          </a:solidFill>
                        </a:defRPr>
                      </a:pPr>
                      <a:r>
                        <a:t>controller</a:t>
                      </a:r>
                    </a:p>
                  </a:txBody>
                  <a:tcPr>
                    <a:solidFill>
                      <a:srgbClr val="FFFFFF"/>
                    </a:solidFill>
                  </a:tcPr>
                </a:tc>
                <a:tc>
                  <a:txBody>
                    <a:bodyPr/>
                    <a:lstStyle/>
                    <a:p>
                      <a:pPr>
                        <a:defRPr sz="1000" b="0">
                          <a:solidFill>
                            <a:srgbClr val="0F172A"/>
                          </a:solidFill>
                        </a:defRPr>
                      </a:pPr>
                      <a:r>
                        <a:t>Recibe solicitudes HTTP, valida formularios y elige la vista (MVC)</a:t>
                      </a:r>
                    </a:p>
                  </a:txBody>
                  <a:tcPr>
                    <a:solidFill>
                      <a:srgbClr val="FFFFFF"/>
                    </a:solidFill>
                  </a:tcPr>
                </a:tc>
                <a:tc>
                  <a:txBody>
                    <a:bodyPr/>
                    <a:lstStyle/>
                    <a:p>
                      <a:pPr>
                        <a:defRPr sz="1000" b="0">
                          <a:solidFill>
                            <a:srgbClr val="0F172A"/>
                          </a:solidFill>
                        </a:defRPr>
                      </a:pPr>
                      <a:r>
                        <a:t>AuthController, TrasladoController, ReporteExcelController</a:t>
                      </a:r>
                    </a:p>
                  </a:txBody>
                  <a:tcPr>
                    <a:solidFill>
                      <a:srgbClr val="FFFFFF"/>
                    </a:solidFill>
                  </a:tcPr>
                </a:tc>
              </a:tr>
              <a:tr h="548640">
                <a:tc>
                  <a:txBody>
                    <a:bodyPr/>
                    <a:lstStyle/>
                    <a:p>
                      <a:pPr>
                        <a:defRPr sz="1000" b="1">
                          <a:solidFill>
                            <a:srgbClr val="002B66"/>
                          </a:solidFill>
                        </a:defRPr>
                      </a:pPr>
                      <a:r>
                        <a:t>service</a:t>
                      </a:r>
                    </a:p>
                  </a:txBody>
                  <a:tcPr>
                    <a:solidFill>
                      <a:srgbClr val="F1F5F9"/>
                    </a:solidFill>
                  </a:tcPr>
                </a:tc>
                <a:tc>
                  <a:txBody>
                    <a:bodyPr/>
                    <a:lstStyle/>
                    <a:p>
                      <a:pPr>
                        <a:defRPr sz="1000" b="0">
                          <a:solidFill>
                            <a:srgbClr val="0F172A"/>
                          </a:solidFill>
                        </a:defRPr>
                      </a:pPr>
                      <a:r>
                        <a:t>Reglas de negocio y motor de impacto; no conoce HTTP ni SQL</a:t>
                      </a:r>
                    </a:p>
                  </a:txBody>
                  <a:tcPr>
                    <a:solidFill>
                      <a:srgbClr val="F1F5F9"/>
                    </a:solidFill>
                  </a:tcPr>
                </a:tc>
                <a:tc>
                  <a:txBody>
                    <a:bodyPr/>
                    <a:lstStyle/>
                    <a:p>
                      <a:pPr>
                        <a:defRPr sz="1000" b="0">
                          <a:solidFill>
                            <a:srgbClr val="0F172A"/>
                          </a:solidFill>
                        </a:defRPr>
                      </a:pPr>
                      <a:r>
                        <a:t>AuthService, TrasladoService, ExcelReportService</a:t>
                      </a:r>
                    </a:p>
                  </a:txBody>
                  <a:tcPr>
                    <a:solidFill>
                      <a:srgbClr val="F1F5F9"/>
                    </a:solidFill>
                  </a:tcPr>
                </a:tc>
              </a:tr>
              <a:tr h="548640">
                <a:tc>
                  <a:txBody>
                    <a:bodyPr/>
                    <a:lstStyle/>
                    <a:p>
                      <a:pPr>
                        <a:defRPr sz="1000" b="1">
                          <a:solidFill>
                            <a:srgbClr val="002B66"/>
                          </a:solidFill>
                        </a:defRPr>
                      </a:pPr>
                      <a:r>
                        <a:t>dao</a:t>
                      </a:r>
                    </a:p>
                  </a:txBody>
                  <a:tcPr>
                    <a:solidFill>
                      <a:srgbClr val="FFFFFF"/>
                    </a:solidFill>
                  </a:tcPr>
                </a:tc>
                <a:tc>
                  <a:txBody>
                    <a:bodyPr/>
                    <a:lstStyle/>
                    <a:p>
                      <a:pPr>
                        <a:defRPr sz="1000" b="0">
                          <a:solidFill>
                            <a:srgbClr val="0F172A"/>
                          </a:solidFill>
                        </a:defRPr>
                      </a:pPr>
                      <a:r>
                        <a:t>Acceso a datos mediante interfaces (patrón DAO)</a:t>
                      </a:r>
                    </a:p>
                  </a:txBody>
                  <a:tcPr>
                    <a:solidFill>
                      <a:srgbClr val="FFFFFF"/>
                    </a:solidFill>
                  </a:tcPr>
                </a:tc>
                <a:tc>
                  <a:txBody>
                    <a:bodyPr/>
                    <a:lstStyle/>
                    <a:p>
                      <a:pPr>
                        <a:defRPr sz="1000" b="0">
                          <a:solidFill>
                            <a:srgbClr val="0F172A"/>
                          </a:solidFill>
                        </a:defRPr>
                      </a:pPr>
                      <a:r>
                        <a:t>UsuarioDao, RolDao, SucursalDao, AuditoriaEventoDao</a:t>
                      </a:r>
                    </a:p>
                  </a:txBody>
                  <a:tcPr>
                    <a:solidFill>
                      <a:srgbClr val="FFFFFF"/>
                    </a:solidFill>
                  </a:tcPr>
                </a:tc>
              </a:tr>
              <a:tr h="548640">
                <a:tc>
                  <a:txBody>
                    <a:bodyPr/>
                    <a:lstStyle/>
                    <a:p>
                      <a:pPr>
                        <a:defRPr sz="1000" b="1">
                          <a:solidFill>
                            <a:srgbClr val="002B66"/>
                          </a:solidFill>
                        </a:defRPr>
                      </a:pPr>
                      <a:r>
                        <a:t>model</a:t>
                      </a:r>
                    </a:p>
                  </a:txBody>
                  <a:tcPr>
                    <a:solidFill>
                      <a:srgbClr val="F1F5F9"/>
                    </a:solidFill>
                  </a:tcPr>
                </a:tc>
                <a:tc>
                  <a:txBody>
                    <a:bodyPr/>
                    <a:lstStyle/>
                    <a:p>
                      <a:pPr>
                        <a:defRPr sz="1000" b="0">
                          <a:solidFill>
                            <a:srgbClr val="0F172A"/>
                          </a:solidFill>
                        </a:defRPr>
                      </a:pPr>
                      <a:r>
                        <a:t>Entidades JPA que representan las tablas</a:t>
                      </a:r>
                    </a:p>
                  </a:txBody>
                  <a:tcPr>
                    <a:solidFill>
                      <a:srgbClr val="F1F5F9"/>
                    </a:solidFill>
                  </a:tcPr>
                </a:tc>
                <a:tc>
                  <a:txBody>
                    <a:bodyPr/>
                    <a:lstStyle/>
                    <a:p>
                      <a:pPr>
                        <a:defRPr sz="1000" b="0">
                          <a:solidFill>
                            <a:srgbClr val="0F172A"/>
                          </a:solidFill>
                        </a:defRPr>
                      </a:pPr>
                      <a:r>
                        <a:t>Usuario, Rol, Sucursal, Medicamento, Traslado, AuditoriaEvento</a:t>
                      </a:r>
                    </a:p>
                  </a:txBody>
                  <a:tcPr>
                    <a:solidFill>
                      <a:srgbClr val="F1F5F9"/>
                    </a:solidFill>
                  </a:tcPr>
                </a:tc>
              </a:tr>
              <a:tr h="548640">
                <a:tc>
                  <a:txBody>
                    <a:bodyPr/>
                    <a:lstStyle/>
                    <a:p>
                      <a:pPr>
                        <a:defRPr sz="1000" b="1">
                          <a:solidFill>
                            <a:srgbClr val="002B66"/>
                          </a:solidFill>
                        </a:defRPr>
                      </a:pPr>
                      <a:r>
                        <a:t>dto / enums</a:t>
                      </a:r>
                    </a:p>
                  </a:txBody>
                  <a:tcPr>
                    <a:solidFill>
                      <a:srgbClr val="FFFFFF"/>
                    </a:solidFill>
                  </a:tcPr>
                </a:tc>
                <a:tc>
                  <a:txBody>
                    <a:bodyPr/>
                    <a:lstStyle/>
                    <a:p>
                      <a:pPr>
                        <a:defRPr sz="1000" b="0">
                          <a:solidFill>
                            <a:srgbClr val="0F172A"/>
                          </a:solidFill>
                        </a:defRPr>
                      </a:pPr>
                      <a:r>
                        <a:t>Objetos de transferencia y enumeraciones del dominio</a:t>
                      </a:r>
                    </a:p>
                  </a:txBody>
                  <a:tcPr>
                    <a:solidFill>
                      <a:srgbClr val="FFFFFF"/>
                    </a:solidFill>
                  </a:tcPr>
                </a:tc>
                <a:tc>
                  <a:txBody>
                    <a:bodyPr/>
                    <a:lstStyle/>
                    <a:p>
                      <a:pPr>
                        <a:defRPr sz="1000" b="0">
                          <a:solidFill>
                            <a:srgbClr val="0F172A"/>
                          </a:solidFill>
                        </a:defRPr>
                      </a:pPr>
                      <a:r>
                        <a:t>LoginRequest, JwtResponse, Prioridad, EstadoTraslado</a:t>
                      </a:r>
                    </a:p>
                  </a:txBody>
                  <a:tcPr>
                    <a:solidFill>
                      <a:srgbClr val="FFFFFF"/>
                    </a:solidFill>
                  </a:tcPr>
                </a:tc>
              </a:tr>
              <a:tr h="548640">
                <a:tc>
                  <a:txBody>
                    <a:bodyPr/>
                    <a:lstStyle/>
                    <a:p>
                      <a:pPr>
                        <a:defRPr sz="1000" b="1">
                          <a:solidFill>
                            <a:srgbClr val="002B66"/>
                          </a:solidFill>
                        </a:defRPr>
                      </a:pPr>
                      <a:r>
                        <a:t>config</a:t>
                      </a:r>
                    </a:p>
                  </a:txBody>
                  <a:tcPr>
                    <a:solidFill>
                      <a:srgbClr val="F1F5F9"/>
                    </a:solidFill>
                  </a:tcPr>
                </a:tc>
                <a:tc>
                  <a:txBody>
                    <a:bodyPr/>
                    <a:lstStyle/>
                    <a:p>
                      <a:pPr>
                        <a:defRPr sz="1000" b="0">
                          <a:solidFill>
                            <a:srgbClr val="0F172A"/>
                          </a:solidFill>
                        </a:defRPr>
                      </a:pPr>
                      <a:r>
                        <a:t>Seguridad, auditoría y manejo de errores</a:t>
                      </a:r>
                    </a:p>
                  </a:txBody>
                  <a:tcPr>
                    <a:solidFill>
                      <a:srgbClr val="F1F5F9"/>
                    </a:solidFill>
                  </a:tcPr>
                </a:tc>
                <a:tc>
                  <a:txBody>
                    <a:bodyPr/>
                    <a:lstStyle/>
                    <a:p>
                      <a:pPr>
                        <a:defRPr sz="1000" b="0">
                          <a:solidFill>
                            <a:srgbClr val="0F172A"/>
                          </a:solidFill>
                        </a:defRPr>
                      </a:pPr>
                      <a:r>
                        <a:t>SecurityConfig, AuthEventsListener, CorsConfig</a:t>
                      </a:r>
                    </a:p>
                  </a:txBody>
                  <a:tcPr>
                    <a:solidFill>
                      <a:srgbClr val="F1F5F9"/>
                    </a:solidFill>
                  </a:tcPr>
                </a:tc>
              </a:tr>
              <a:tr h="548640">
                <a:tc>
                  <a:txBody>
                    <a:bodyPr/>
                    <a:lstStyle/>
                    <a:p>
                      <a:pPr>
                        <a:defRPr sz="1000" b="1">
                          <a:solidFill>
                            <a:srgbClr val="002B66"/>
                          </a:solidFill>
                        </a:defRPr>
                      </a:pPr>
                      <a:r>
                        <a:t>util / exception</a:t>
                      </a:r>
                    </a:p>
                  </a:txBody>
                  <a:tcPr>
                    <a:solidFill>
                      <a:srgbClr val="FFFFFF"/>
                    </a:solidFill>
                  </a:tcPr>
                </a:tc>
                <a:tc>
                  <a:txBody>
                    <a:bodyPr/>
                    <a:lstStyle/>
                    <a:p>
                      <a:pPr>
                        <a:defRPr sz="1000" b="0">
                          <a:solidFill>
                            <a:srgbClr val="0F172A"/>
                          </a:solidFill>
                        </a:defRPr>
                      </a:pPr>
                      <a:r>
                        <a:t>Utilidades de texto y excepciones de negocio</a:t>
                      </a:r>
                    </a:p>
                  </a:txBody>
                  <a:tcPr>
                    <a:solidFill>
                      <a:srgbClr val="FFFFFF"/>
                    </a:solidFill>
                  </a:tcPr>
                </a:tc>
                <a:tc>
                  <a:txBody>
                    <a:bodyPr/>
                    <a:lstStyle/>
                    <a:p>
                      <a:pPr>
                        <a:defRPr sz="1000" b="0">
                          <a:solidFill>
                            <a:srgbClr val="0F172A"/>
                          </a:solidFill>
                        </a:defRPr>
                      </a:pPr>
                      <a:r>
                        <a:t>SanitizadorTexto (Apache Commons), ReglaNegocioException</a:t>
                      </a:r>
                    </a:p>
                  </a:txBody>
                  <a:tcPr>
                    <a:solidFill>
                      <a:srgbClr val="FFFFFF"/>
                    </a:solidFill>
                  </a:tcPr>
                </a:tc>
              </a:tr>
              <a:tr h="548640">
                <a:tc>
                  <a:txBody>
                    <a:bodyPr/>
                    <a:lstStyle/>
                    <a:p>
                      <a:pPr>
                        <a:defRPr sz="1000" b="1">
                          <a:solidFill>
                            <a:srgbClr val="002B66"/>
                          </a:solidFill>
                        </a:defRPr>
                      </a:pPr>
                      <a:r>
                        <a:t>resources</a:t>
                      </a:r>
                    </a:p>
                  </a:txBody>
                  <a:tcPr>
                    <a:solidFill>
                      <a:srgbClr val="F1F5F9"/>
                    </a:solidFill>
                  </a:tcPr>
                </a:tc>
                <a:tc>
                  <a:txBody>
                    <a:bodyPr/>
                    <a:lstStyle/>
                    <a:p>
                      <a:pPr>
                        <a:defRPr sz="1000" b="0">
                          <a:solidFill>
                            <a:srgbClr val="0F172A"/>
                          </a:solidFill>
                        </a:defRPr>
                      </a:pPr>
                      <a:r>
                        <a:t>Vistas, scripts SQL y configuración de logging</a:t>
                      </a:r>
                    </a:p>
                  </a:txBody>
                  <a:tcPr>
                    <a:solidFill>
                      <a:srgbClr val="F1F5F9"/>
                    </a:solidFill>
                  </a:tcPr>
                </a:tc>
                <a:tc>
                  <a:txBody>
                    <a:bodyPr/>
                    <a:lstStyle/>
                    <a:p>
                      <a:pPr>
                        <a:defRPr sz="1000" b="0">
                          <a:solidFill>
                            <a:srgbClr val="0F172A"/>
                          </a:solidFill>
                        </a:defRPr>
                      </a:pPr>
                      <a:r>
                        <a:t>db/schema.sql, db/data.sql, logback-spring.xml</a:t>
                      </a:r>
                    </a:p>
                  </a:txBody>
                  <a:tcPr>
                    <a:solidFill>
                      <a:srgbClr val="F1F5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TECNOLOGÍAS Y LIBRERÍAS REQUERIDAS</a:t>
            </a:r>
          </a:p>
          <a:p>
            <a:pPr>
              <a:spcBef>
                <a:spcPts val="200"/>
              </a:spcBef>
              <a:defRPr sz="2200" b="1">
                <a:solidFill>
                  <a:srgbClr val="FFFFFF"/>
                </a:solidFill>
              </a:defRPr>
            </a:pPr>
            <a:r>
              <a:t>Integración de Guava, Apache POI, Apache Commons y Logback</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731520" y="1371600"/>
            <a:ext cx="2514600" cy="4846320"/>
          </a:xfrm>
          <a:prstGeom prst="roundRect">
            <a:avLst/>
          </a:prstGeom>
          <a:solidFill>
            <a:srgbClr val="FFFFFF"/>
          </a:solidFill>
          <a:ln w="19050">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08760"/>
            <a:ext cx="2240280" cy="4572000"/>
          </a:xfrm>
          <a:prstGeom prst="rect">
            <a:avLst/>
          </a:prstGeom>
          <a:noFill/>
        </p:spPr>
        <p:txBody>
          <a:bodyPr wrap="square">
            <a:spAutoFit/>
          </a:bodyPr>
          <a:lstStyle/>
          <a:p>
            <a:pPr>
              <a:defRPr b="1" sz="1250">
                <a:solidFill>
                  <a:srgbClr val="002B66"/>
                </a:solidFill>
              </a:defRPr>
            </a:pPr>
            <a:r>
              <a:t>1. Google Guava (v33.0.0)</a:t>
            </a:r>
          </a:p>
          <a:p>
            <a:pPr>
              <a:spcBef>
                <a:spcPts val="800"/>
              </a:spcBef>
              <a:defRPr b="1" sz="950">
                <a:solidFill>
                  <a:srgbClr val="D97706"/>
                </a:solidFill>
              </a:defRPr>
            </a:pPr>
            <a:r>
              <a:t>CONTROL DE TASA Y RATE LIMITING</a:t>
            </a:r>
          </a:p>
          <a:p>
            <a:pPr>
              <a:spcBef>
                <a:spcPts val="1200"/>
              </a:spcBef>
              <a:defRPr sz="1050">
                <a:solidFill>
                  <a:srgbClr val="0F172A"/>
                </a:solidFill>
              </a:defRPr>
            </a:pPr>
            <a:r>
              <a:t>LoadingCache en memoria con expiración a 15 min para bloquear cuentas automáticamente al superar 5 intentos fallidos consecutivos. Uso de Preconditions para validaciones defensivas de argumentos.</a:t>
            </a:r>
          </a:p>
        </p:txBody>
      </p:sp>
      <p:sp>
        <p:nvSpPr>
          <p:cNvPr id="10" name="Rounded Rectangle 9"/>
          <p:cNvSpPr/>
          <p:nvPr/>
        </p:nvSpPr>
        <p:spPr>
          <a:xfrm>
            <a:off x="3456432" y="1371600"/>
            <a:ext cx="2514600" cy="4846320"/>
          </a:xfrm>
          <a:prstGeom prst="roundRect">
            <a:avLst/>
          </a:prstGeom>
          <a:solidFill>
            <a:srgbClr val="FFFFFF"/>
          </a:solidFill>
          <a:ln w="19050">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508760"/>
            <a:ext cx="2240280" cy="4572000"/>
          </a:xfrm>
          <a:prstGeom prst="rect">
            <a:avLst/>
          </a:prstGeom>
          <a:noFill/>
        </p:spPr>
        <p:txBody>
          <a:bodyPr wrap="square">
            <a:spAutoFit/>
          </a:bodyPr>
          <a:lstStyle/>
          <a:p>
            <a:pPr>
              <a:defRPr b="1" sz="1250">
                <a:solidFill>
                  <a:srgbClr val="002B66"/>
                </a:solidFill>
              </a:defRPr>
            </a:pPr>
            <a:r>
              <a:t>2. Apache POI (v5.2.5)</a:t>
            </a:r>
          </a:p>
          <a:p>
            <a:pPr>
              <a:spcBef>
                <a:spcPts val="800"/>
              </a:spcBef>
              <a:defRPr b="1" sz="950">
                <a:solidFill>
                  <a:srgbClr val="D97706"/>
                </a:solidFill>
              </a:defRPr>
            </a:pPr>
            <a:r>
              <a:t>EXPORTACIÓN EXCEL (.XLSX)</a:t>
            </a:r>
          </a:p>
          <a:p>
            <a:pPr>
              <a:spcBef>
                <a:spcPts val="1200"/>
              </a:spcBef>
              <a:defRPr sz="1050">
                <a:solidFill>
                  <a:srgbClr val="0F172A"/>
                </a:solidFill>
              </a:defRPr>
            </a:pPr>
            <a:r>
              <a:t>Generación nativa de hojas de cálculo XSSFWorkbook con formato corporativo (cabeceras azul marino, auto-filtro, estilos) para auditorías de seguridad, trazabilidad de usuarios y reportes Kardex.</a:t>
            </a:r>
          </a:p>
        </p:txBody>
      </p:sp>
      <p:sp>
        <p:nvSpPr>
          <p:cNvPr id="12" name="Rounded Rectangle 11"/>
          <p:cNvSpPr/>
          <p:nvPr/>
        </p:nvSpPr>
        <p:spPr>
          <a:xfrm>
            <a:off x="6181344" y="1371600"/>
            <a:ext cx="2514600" cy="4846320"/>
          </a:xfrm>
          <a:prstGeom prst="roundRect">
            <a:avLst/>
          </a:prstGeom>
          <a:solidFill>
            <a:srgbClr val="FFFFFF"/>
          </a:solidFill>
          <a:ln w="19050">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18504" y="1508760"/>
            <a:ext cx="2240280" cy="4572000"/>
          </a:xfrm>
          <a:prstGeom prst="rect">
            <a:avLst/>
          </a:prstGeom>
          <a:noFill/>
        </p:spPr>
        <p:txBody>
          <a:bodyPr wrap="square">
            <a:spAutoFit/>
          </a:bodyPr>
          <a:lstStyle/>
          <a:p>
            <a:pPr>
              <a:defRPr b="1" sz="1250">
                <a:solidFill>
                  <a:srgbClr val="002B66"/>
                </a:solidFill>
              </a:defRPr>
            </a:pPr>
            <a:r>
              <a:t>3. Apache Commons (v3.14)</a:t>
            </a:r>
          </a:p>
          <a:p>
            <a:pPr>
              <a:spcBef>
                <a:spcPts val="800"/>
              </a:spcBef>
              <a:defRPr b="1" sz="950">
                <a:solidFill>
                  <a:srgbClr val="D97706"/>
                </a:solidFill>
              </a:defRPr>
            </a:pPr>
            <a:r>
              <a:t>SANITIZACIÓN Y VALIDACIÓN DEFENSIVA</a:t>
            </a:r>
          </a:p>
          <a:p>
            <a:pPr>
              <a:spcBef>
                <a:spcPts val="1200"/>
              </a:spcBef>
              <a:defRPr sz="1050">
                <a:solidFill>
                  <a:srgbClr val="0F172A"/>
                </a:solidFill>
              </a:defRPr>
            </a:pPr>
            <a:r>
              <a:t>Utilización de StringUtils.isNotBlank(), trimToEmpty() y sanitización de caracteres especiales para prevenir ataques de Cross-Site Scripting (XSS) e inyección SQL en la capa de servicios.</a:t>
            </a:r>
          </a:p>
        </p:txBody>
      </p:sp>
      <p:sp>
        <p:nvSpPr>
          <p:cNvPr id="14" name="Rounded Rectangle 13"/>
          <p:cNvSpPr/>
          <p:nvPr/>
        </p:nvSpPr>
        <p:spPr>
          <a:xfrm>
            <a:off x="8906256" y="1371600"/>
            <a:ext cx="2514600" cy="4846320"/>
          </a:xfrm>
          <a:prstGeom prst="roundRect">
            <a:avLst/>
          </a:prstGeom>
          <a:solidFill>
            <a:srgbClr val="FFFFFF"/>
          </a:solidFill>
          <a:ln w="19050">
            <a:solidFill>
              <a:srgbClr val="002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43416" y="1508760"/>
            <a:ext cx="2240280" cy="4572000"/>
          </a:xfrm>
          <a:prstGeom prst="rect">
            <a:avLst/>
          </a:prstGeom>
          <a:noFill/>
        </p:spPr>
        <p:txBody>
          <a:bodyPr wrap="square">
            <a:spAutoFit/>
          </a:bodyPr>
          <a:lstStyle/>
          <a:p>
            <a:pPr>
              <a:defRPr b="1" sz="1250">
                <a:solidFill>
                  <a:srgbClr val="002B66"/>
                </a:solidFill>
              </a:defRPr>
            </a:pPr>
            <a:r>
              <a:t>4. Logback (logback-spring.xml)</a:t>
            </a:r>
          </a:p>
          <a:p>
            <a:pPr>
              <a:spcBef>
                <a:spcPts val="800"/>
              </a:spcBef>
              <a:defRPr b="1" sz="950">
                <a:solidFill>
                  <a:srgbClr val="D97706"/>
                </a:solidFill>
              </a:defRPr>
            </a:pPr>
            <a:r>
              <a:t>AUDITORÍA ESTRUCTURADA DE SEGURIDAD</a:t>
            </a:r>
          </a:p>
          <a:p>
            <a:pPr>
              <a:spcBef>
                <a:spcPts val="1200"/>
              </a:spcBef>
              <a:defRPr sz="1050">
                <a:solidFill>
                  <a:srgbClr val="0F172A"/>
                </a:solidFill>
              </a:defRPr>
            </a:pPr>
            <a:r>
              <a:t>Configuración de appenders rotativos diarios con compresión .gz y patrones coloreados. Registro formal de eventos de login, bloqueo de IP y transferencias para auditoría regulatoria DIGEMID.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DECISIONES DE ARQUITECTURA</a:t>
            </a:r>
          </a:p>
          <a:p>
            <a:pPr>
              <a:spcBef>
                <a:spcPts val="200"/>
              </a:spcBef>
              <a:defRPr sz="2200" b="1">
                <a:solidFill>
                  <a:srgbClr val="FFFFFF"/>
                </a:solidFill>
              </a:defRPr>
            </a:pPr>
            <a:r>
              <a:t>Conclusiones Técnicas: ¿Por qué elegimos Microservicios?</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731520" y="1371600"/>
            <a:ext cx="10698480" cy="10789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371600"/>
            <a:ext cx="164592" cy="1078992"/>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463040"/>
            <a:ext cx="10149840" cy="896112"/>
          </a:xfrm>
          <a:prstGeom prst="rect">
            <a:avLst/>
          </a:prstGeom>
          <a:noFill/>
        </p:spPr>
        <p:txBody>
          <a:bodyPr wrap="square">
            <a:spAutoFit/>
          </a:bodyPr>
          <a:lstStyle/>
          <a:p>
            <a:pPr>
              <a:defRPr b="1" sz="1250">
                <a:solidFill>
                  <a:srgbClr val="002B66"/>
                </a:solidFill>
              </a:defRPr>
            </a:pPr>
            <a:r>
              <a:t>1. Desacoplamiento por Dominios de Negocio (DDD)</a:t>
            </a:r>
          </a:p>
          <a:p>
            <a:pPr>
              <a:spcBef>
                <a:spcPts val="400"/>
              </a:spcBef>
              <a:defRPr sz="1050">
                <a:solidFill>
                  <a:srgbClr val="0F172A"/>
                </a:solidFill>
              </a:defRPr>
            </a:pPr>
            <a:r>
              <a:t>En una corporación como Farmacias Peruanas con más de 2,200 boticas, el dominio de Autenticación, el Inventario Geocercano, las Alertas IA y la Logística de Traslados tienen ciclos de vida y lógicas totalmente independientes. Un fallo en el cálculo analítico no debe interrumpir la ventanilla de venta.</a:t>
            </a:r>
          </a:p>
        </p:txBody>
      </p:sp>
      <p:sp>
        <p:nvSpPr>
          <p:cNvPr id="11" name="Rounded Rectangle 10"/>
          <p:cNvSpPr/>
          <p:nvPr/>
        </p:nvSpPr>
        <p:spPr>
          <a:xfrm>
            <a:off x="731520" y="2560320"/>
            <a:ext cx="10698480" cy="10789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560320"/>
            <a:ext cx="164592" cy="1078992"/>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651760"/>
            <a:ext cx="10149840" cy="896112"/>
          </a:xfrm>
          <a:prstGeom prst="rect">
            <a:avLst/>
          </a:prstGeom>
          <a:noFill/>
        </p:spPr>
        <p:txBody>
          <a:bodyPr wrap="square">
            <a:spAutoFit/>
          </a:bodyPr>
          <a:lstStyle/>
          <a:p>
            <a:pPr>
              <a:defRPr b="1" sz="1250">
                <a:solidFill>
                  <a:srgbClr val="002B66"/>
                </a:solidFill>
              </a:defRPr>
            </a:pPr>
            <a:r>
              <a:t>2. Escalabilidad Asimétrica e Independiente</a:t>
            </a:r>
          </a:p>
          <a:p>
            <a:pPr>
              <a:spcBef>
                <a:spcPts val="400"/>
              </a:spcBef>
              <a:defRPr sz="1050">
                <a:solidFill>
                  <a:srgbClr val="0F172A"/>
                </a:solidFill>
              </a:defRPr>
            </a:pPr>
            <a:r>
              <a:t>El motor predictivo de demanda y el cálculo Haversine de geocercanía demandan alta capacidad de cómputo en picos horarios de reposición. Los microservicios permiten escalar horizontalmente solo el servicio de predicción sin sobredimensionar la base de datos de usuarios ni el gateway.</a:t>
            </a:r>
          </a:p>
        </p:txBody>
      </p:sp>
      <p:sp>
        <p:nvSpPr>
          <p:cNvPr id="14" name="Rounded Rectangle 13"/>
          <p:cNvSpPr/>
          <p:nvPr/>
        </p:nvSpPr>
        <p:spPr>
          <a:xfrm>
            <a:off x="731520" y="3749040"/>
            <a:ext cx="10698480" cy="10789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49040"/>
            <a:ext cx="164592" cy="1078992"/>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840480"/>
            <a:ext cx="10149840" cy="896112"/>
          </a:xfrm>
          <a:prstGeom prst="rect">
            <a:avLst/>
          </a:prstGeom>
          <a:noFill/>
        </p:spPr>
        <p:txBody>
          <a:bodyPr wrap="square">
            <a:spAutoFit/>
          </a:bodyPr>
          <a:lstStyle/>
          <a:p>
            <a:pPr>
              <a:defRPr b="1" sz="1250">
                <a:solidFill>
                  <a:srgbClr val="002B66"/>
                </a:solidFill>
              </a:defRPr>
            </a:pPr>
            <a:r>
              <a:t>3. Aislamiento de Fallos y Alta Disponibilidad</a:t>
            </a:r>
          </a:p>
          <a:p>
            <a:pPr>
              <a:spcBef>
                <a:spcPts val="400"/>
              </a:spcBef>
              <a:defRPr sz="1050">
                <a:solidFill>
                  <a:srgbClr val="0F172A"/>
                </a:solidFill>
              </a:defRPr>
            </a:pPr>
            <a:r>
              <a:t>Si el módulo de emisión de Guías SUNAT experimenta latencia por caída del servicio web tributario, el resto del sistema (búsqueda de stock, dispensación y login) continúa operando con normalidad. En un monolito, una falla en un hilo bloquearía toda la aplicación.</a:t>
            </a:r>
          </a:p>
        </p:txBody>
      </p:sp>
      <p:sp>
        <p:nvSpPr>
          <p:cNvPr id="17" name="Rounded Rectangle 16"/>
          <p:cNvSpPr/>
          <p:nvPr/>
        </p:nvSpPr>
        <p:spPr>
          <a:xfrm>
            <a:off x="731520" y="4937760"/>
            <a:ext cx="10698480" cy="107899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937760"/>
            <a:ext cx="164592" cy="1078992"/>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029200"/>
            <a:ext cx="10149840" cy="896112"/>
          </a:xfrm>
          <a:prstGeom prst="rect">
            <a:avLst/>
          </a:prstGeom>
          <a:noFill/>
        </p:spPr>
        <p:txBody>
          <a:bodyPr wrap="square">
            <a:spAutoFit/>
          </a:bodyPr>
          <a:lstStyle/>
          <a:p>
            <a:pPr>
              <a:defRPr b="1" sz="1250">
                <a:solidFill>
                  <a:srgbClr val="002B66"/>
                </a:solidFill>
              </a:defRPr>
            </a:pPr>
            <a:r>
              <a:t>4. Despliegue Continuo y Contenerización Docker</a:t>
            </a:r>
          </a:p>
          <a:p>
            <a:pPr>
              <a:spcBef>
                <a:spcPts val="400"/>
              </a:spcBef>
              <a:defRPr sz="1050">
                <a:solidFill>
                  <a:srgbClr val="0F172A"/>
                </a:solidFill>
              </a:defRPr>
            </a:pPr>
            <a:r>
              <a:t>Cada microservicio posee su propio Dockerfile optimizado y pipelines CI/CD independientes. Esto reduce el tiempo de compilación, permite actualizaciones sin caída de servicio (Zero Downtime) y facilita la integración con Kubernetes y PostgreSQL distribuido.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PERSISTENCIA DE DATOS</a:t>
            </a:r>
          </a:p>
          <a:p>
            <a:pPr>
              <a:spcBef>
                <a:spcPts val="200"/>
              </a:spcBef>
              <a:defRPr sz="2200" b="1">
                <a:solidFill>
                  <a:srgbClr val="FFFFFF"/>
                </a:solidFill>
              </a:defRPr>
            </a:pPr>
            <a:r>
              <a:t>Modelo Relacional PostgreSQL (8 Tablas, Restricciones e Índices)</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graphicFrame>
        <p:nvGraphicFramePr>
          <p:cNvPr id="8" name="Table 7"/>
          <p:cNvGraphicFramePr>
            <a:graphicFrameLocks noGrp="1"/>
          </p:cNvGraphicFramePr>
          <p:nvPr/>
        </p:nvGraphicFramePr>
        <p:xfrm>
          <a:off x="731520" y="1280160"/>
          <a:ext cx="10698480" cy="4937760"/>
        </p:xfrm>
        <a:graphic>
          <a:graphicData uri="http://schemas.openxmlformats.org/drawingml/2006/table">
            <a:tbl>
              <a:tblPr firstRow="1" bandRow="1">
                <a:tableStyleId>{5C22544A-7EE6-4342-B048-85BDC9FD1C3A}</a:tableStyleId>
              </a:tblPr>
              <a:tblGrid>
                <a:gridCol w="2011680"/>
                <a:gridCol w="4114800"/>
                <a:gridCol w="4572000"/>
              </a:tblGrid>
              <a:tr h="548640">
                <a:tc>
                  <a:txBody>
                    <a:bodyPr/>
                    <a:lstStyle/>
                    <a:p>
                      <a:pPr>
                        <a:defRPr b="1" sz="1100">
                          <a:solidFill>
                            <a:srgbClr val="FFD100"/>
                          </a:solidFill>
                        </a:defRPr>
                      </a:pPr>
                      <a:r>
                        <a:t>Tabla PostgreSQL</a:t>
                      </a:r>
                    </a:p>
                  </a:txBody>
                  <a:tcPr>
                    <a:solidFill>
                      <a:srgbClr val="002B66"/>
                    </a:solidFill>
                  </a:tcPr>
                </a:tc>
                <a:tc>
                  <a:txBody>
                    <a:bodyPr/>
                    <a:lstStyle/>
                    <a:p>
                      <a:pPr>
                        <a:defRPr b="1" sz="1100">
                          <a:solidFill>
                            <a:srgbClr val="FFD100"/>
                          </a:solidFill>
                        </a:defRPr>
                      </a:pPr>
                      <a:r>
                        <a:t>Campos Clave y Restricciones</a:t>
                      </a:r>
                    </a:p>
                  </a:txBody>
                  <a:tcPr>
                    <a:solidFill>
                      <a:srgbClr val="002B66"/>
                    </a:solidFill>
                  </a:tcPr>
                </a:tc>
                <a:tc>
                  <a:txBody>
                    <a:bodyPr/>
                    <a:lstStyle/>
                    <a:p>
                      <a:pPr>
                        <a:defRPr b="1" sz="1100">
                          <a:solidFill>
                            <a:srgbClr val="FFD100"/>
                          </a:solidFill>
                        </a:defRPr>
                      </a:pPr>
                      <a:r>
                        <a:t>Índices de Optimización y Rol en SIIP</a:t>
                      </a:r>
                    </a:p>
                  </a:txBody>
                  <a:tcPr>
                    <a:solidFill>
                      <a:srgbClr val="002B66"/>
                    </a:solidFill>
                  </a:tcPr>
                </a:tc>
              </a:tr>
              <a:tr h="548640">
                <a:tc>
                  <a:txBody>
                    <a:bodyPr/>
                    <a:lstStyle/>
                    <a:p>
                      <a:pPr>
                        <a:defRPr sz="1000" b="1">
                          <a:solidFill>
                            <a:srgbClr val="002B66"/>
                          </a:solidFill>
                        </a:defRPr>
                      </a:pPr>
                      <a:r>
                        <a:t>1. sucursales</a:t>
                      </a:r>
                    </a:p>
                  </a:txBody>
                  <a:tcPr>
                    <a:solidFill>
                      <a:srgbClr val="FFFFFF"/>
                    </a:solidFill>
                  </a:tcPr>
                </a:tc>
                <a:tc>
                  <a:txBody>
                    <a:bodyPr/>
                    <a:lstStyle/>
                    <a:p>
                      <a:pPr>
                        <a:defRPr sz="1000" b="0">
                          <a:solidFill>
                            <a:srgbClr val="0F172A"/>
                          </a:solidFill>
                        </a:defRPr>
                      </a:pPr>
                      <a:r>
                        <a:t>id, codigo UNIQUE, marca, direccion, lat, lng, es_cd</a:t>
                      </a:r>
                    </a:p>
                  </a:txBody>
                  <a:tcPr>
                    <a:solidFill>
                      <a:srgbClr val="FFFFFF"/>
                    </a:solidFill>
                  </a:tcPr>
                </a:tc>
                <a:tc>
                  <a:txBody>
                    <a:bodyPr/>
                    <a:lstStyle/>
                    <a:p>
                      <a:pPr>
                        <a:defRPr sz="1000" b="0">
                          <a:solidFill>
                            <a:srgbClr val="0F172A"/>
                          </a:solidFill>
                        </a:defRPr>
                      </a:pPr>
                      <a:r>
                        <a:t>idx_sucursales_codigo. Red nacional de 15 sedes en Perú.</a:t>
                      </a:r>
                    </a:p>
                  </a:txBody>
                  <a:tcPr>
                    <a:solidFill>
                      <a:srgbClr val="FFFFFF"/>
                    </a:solidFill>
                  </a:tcPr>
                </a:tc>
              </a:tr>
              <a:tr h="548640">
                <a:tc>
                  <a:txBody>
                    <a:bodyPr/>
                    <a:lstStyle/>
                    <a:p>
                      <a:pPr>
                        <a:defRPr sz="1000" b="1">
                          <a:solidFill>
                            <a:srgbClr val="002B66"/>
                          </a:solidFill>
                        </a:defRPr>
                      </a:pPr>
                      <a:r>
                        <a:t>2. roles</a:t>
                      </a:r>
                    </a:p>
                  </a:txBody>
                  <a:tcPr>
                    <a:solidFill>
                      <a:srgbClr val="F1F5F9"/>
                    </a:solidFill>
                  </a:tcPr>
                </a:tc>
                <a:tc>
                  <a:txBody>
                    <a:bodyPr/>
                    <a:lstStyle/>
                    <a:p>
                      <a:pPr>
                        <a:defRPr sz="1000" b="0">
                          <a:solidFill>
                            <a:srgbClr val="0F172A"/>
                          </a:solidFill>
                        </a:defRPr>
                      </a:pPr>
                      <a:r>
                        <a:t>id, codigo UNIQUE, nombre, descripcion</a:t>
                      </a:r>
                    </a:p>
                  </a:txBody>
                  <a:tcPr>
                    <a:solidFill>
                      <a:srgbClr val="F1F5F9"/>
                    </a:solidFill>
                  </a:tcPr>
                </a:tc>
                <a:tc>
                  <a:txBody>
                    <a:bodyPr/>
                    <a:lstStyle/>
                    <a:p>
                      <a:pPr>
                        <a:defRPr sz="1000" b="0">
                          <a:solidFill>
                            <a:srgbClr val="0F172A"/>
                          </a:solidFill>
                        </a:defRPr>
                      </a:pPr>
                      <a:r>
                        <a:t>Control de perfiles RBAC (QF, Admin CD, Supervisor).</a:t>
                      </a:r>
                    </a:p>
                  </a:txBody>
                  <a:tcPr>
                    <a:solidFill>
                      <a:srgbClr val="F1F5F9"/>
                    </a:solidFill>
                  </a:tcPr>
                </a:tc>
              </a:tr>
              <a:tr h="548640">
                <a:tc>
                  <a:txBody>
                    <a:bodyPr/>
                    <a:lstStyle/>
                    <a:p>
                      <a:pPr>
                        <a:defRPr sz="1000" b="1">
                          <a:solidFill>
                            <a:srgbClr val="002B66"/>
                          </a:solidFill>
                        </a:defRPr>
                      </a:pPr>
                      <a:r>
                        <a:t>3. usuarios</a:t>
                      </a:r>
                    </a:p>
                  </a:txBody>
                  <a:tcPr>
                    <a:solidFill>
                      <a:srgbClr val="FFFFFF"/>
                    </a:solidFill>
                  </a:tcPr>
                </a:tc>
                <a:tc>
                  <a:txBody>
                    <a:bodyPr/>
                    <a:lstStyle/>
                    <a:p>
                      <a:pPr>
                        <a:defRPr sz="1000" b="0">
                          <a:solidFill>
                            <a:srgbClr val="0F172A"/>
                          </a:solidFill>
                        </a:defRPr>
                      </a:pPr>
                      <a:r>
                        <a:t>id, username UNIQUE, password_hash (BCrypt), rol_id, bloqueado</a:t>
                      </a:r>
                    </a:p>
                  </a:txBody>
                  <a:tcPr>
                    <a:solidFill>
                      <a:srgbClr val="FFFFFF"/>
                    </a:solidFill>
                  </a:tcPr>
                </a:tc>
                <a:tc>
                  <a:txBody>
                    <a:bodyPr/>
                    <a:lstStyle/>
                    <a:p>
                      <a:pPr>
                        <a:defRPr sz="1000" b="0">
                          <a:solidFill>
                            <a:srgbClr val="0F172A"/>
                          </a:solidFill>
                        </a:defRPr>
                      </a:pPr>
                      <a:r>
                        <a:t>idx_usuarios_username. Auth PostgreSQL y bloqueo a 5 intentos.</a:t>
                      </a:r>
                    </a:p>
                  </a:txBody>
                  <a:tcPr>
                    <a:solidFill>
                      <a:srgbClr val="FFFFFF"/>
                    </a:solidFill>
                  </a:tcPr>
                </a:tc>
              </a:tr>
              <a:tr h="548640">
                <a:tc>
                  <a:txBody>
                    <a:bodyPr/>
                    <a:lstStyle/>
                    <a:p>
                      <a:pPr>
                        <a:defRPr sz="1000" b="1">
                          <a:solidFill>
                            <a:srgbClr val="002B66"/>
                          </a:solidFill>
                        </a:defRPr>
                      </a:pPr>
                      <a:r>
                        <a:t>4. medicamentos</a:t>
                      </a:r>
                    </a:p>
                  </a:txBody>
                  <a:tcPr>
                    <a:solidFill>
                      <a:srgbClr val="F1F5F9"/>
                    </a:solidFill>
                  </a:tcPr>
                </a:tc>
                <a:tc>
                  <a:txBody>
                    <a:bodyPr/>
                    <a:lstStyle/>
                    <a:p>
                      <a:pPr>
                        <a:defRPr sz="1000" b="0">
                          <a:solidFill>
                            <a:srgbClr val="0F172A"/>
                          </a:solidFill>
                        </a:defRPr>
                      </a:pPr>
                      <a:r>
                        <a:t>id, codigo_ean UNIQUE, codigo_can, principio_activo, categoria</a:t>
                      </a:r>
                    </a:p>
                  </a:txBody>
                  <a:tcPr>
                    <a:solidFill>
                      <a:srgbClr val="F1F5F9"/>
                    </a:solidFill>
                  </a:tcPr>
                </a:tc>
                <a:tc>
                  <a:txBody>
                    <a:bodyPr/>
                    <a:lstStyle/>
                    <a:p>
                      <a:pPr>
                        <a:defRPr sz="1000" b="0">
                          <a:solidFill>
                            <a:srgbClr val="0F172A"/>
                          </a:solidFill>
                        </a:defRPr>
                      </a:pPr>
                      <a:r>
                        <a:t>Vademécum oficial farmacéutico con marcas vs genéricos.</a:t>
                      </a:r>
                    </a:p>
                  </a:txBody>
                  <a:tcPr>
                    <a:solidFill>
                      <a:srgbClr val="F1F5F9"/>
                    </a:solidFill>
                  </a:tcPr>
                </a:tc>
              </a:tr>
              <a:tr h="548640">
                <a:tc>
                  <a:txBody>
                    <a:bodyPr/>
                    <a:lstStyle/>
                    <a:p>
                      <a:pPr>
                        <a:defRPr sz="1000" b="1">
                          <a:solidFill>
                            <a:srgbClr val="002B66"/>
                          </a:solidFill>
                        </a:defRPr>
                      </a:pPr>
                      <a:r>
                        <a:t>5. inventarios</a:t>
                      </a:r>
                    </a:p>
                  </a:txBody>
                  <a:tcPr>
                    <a:solidFill>
                      <a:srgbClr val="FFFFFF"/>
                    </a:solidFill>
                  </a:tcPr>
                </a:tc>
                <a:tc>
                  <a:txBody>
                    <a:bodyPr/>
                    <a:lstStyle/>
                    <a:p>
                      <a:pPr>
                        <a:defRPr sz="1000" b="0">
                          <a:solidFill>
                            <a:srgbClr val="0F172A"/>
                          </a:solidFill>
                        </a:defRPr>
                      </a:pPr>
                      <a:r>
                        <a:t>id, sucursal_id, medicamento_id, stock_actual, estado_stock</a:t>
                      </a:r>
                    </a:p>
                  </a:txBody>
                  <a:tcPr>
                    <a:solidFill>
                      <a:srgbClr val="FFFFFF"/>
                    </a:solidFill>
                  </a:tcPr>
                </a:tc>
                <a:tc>
                  <a:txBody>
                    <a:bodyPr/>
                    <a:lstStyle/>
                    <a:p>
                      <a:pPr>
                        <a:defRPr sz="1000" b="0">
                          <a:solidFill>
                            <a:srgbClr val="0F172A"/>
                          </a:solidFill>
                        </a:defRPr>
                      </a:pPr>
                      <a:r>
                        <a:t>idx_inventarios_sucursal. Control reactivo de existencias.</a:t>
                      </a:r>
                    </a:p>
                  </a:txBody>
                  <a:tcPr>
                    <a:solidFill>
                      <a:srgbClr val="FFFFFF"/>
                    </a:solidFill>
                  </a:tcPr>
                </a:tc>
              </a:tr>
              <a:tr h="548640">
                <a:tc>
                  <a:txBody>
                    <a:bodyPr/>
                    <a:lstStyle/>
                    <a:p>
                      <a:pPr>
                        <a:defRPr sz="1000" b="1">
                          <a:solidFill>
                            <a:srgbClr val="002B66"/>
                          </a:solidFill>
                        </a:defRPr>
                      </a:pPr>
                      <a:r>
                        <a:t>6. lotes_caducidad</a:t>
                      </a:r>
                    </a:p>
                  </a:txBody>
                  <a:tcPr>
                    <a:solidFill>
                      <a:srgbClr val="F1F5F9"/>
                    </a:solidFill>
                  </a:tcPr>
                </a:tc>
                <a:tc>
                  <a:txBody>
                    <a:bodyPr/>
                    <a:lstStyle/>
                    <a:p>
                      <a:pPr>
                        <a:defRPr sz="1000" b="0">
                          <a:solidFill>
                            <a:srgbClr val="0F172A"/>
                          </a:solidFill>
                        </a:defRPr>
                      </a:pPr>
                      <a:r>
                        <a:t>id, numero_lote, fecha_vencimiento, semaforo_fefo</a:t>
                      </a:r>
                    </a:p>
                  </a:txBody>
                  <a:tcPr>
                    <a:solidFill>
                      <a:srgbClr val="F1F5F9"/>
                    </a:solidFill>
                  </a:tcPr>
                </a:tc>
                <a:tc>
                  <a:txBody>
                    <a:bodyPr/>
                    <a:lstStyle/>
                    <a:p>
                      <a:pPr>
                        <a:defRPr sz="1000" b="0">
                          <a:solidFill>
                            <a:srgbClr val="0F172A"/>
                          </a:solidFill>
                        </a:defRPr>
                      </a:pPr>
                      <a:r>
                        <a:t>idx_lotes_vencimiento, idx_lotes_fefo. Trazabilidad BPA DIGEMID.</a:t>
                      </a:r>
                    </a:p>
                  </a:txBody>
                  <a:tcPr>
                    <a:solidFill>
                      <a:srgbClr val="F1F5F9"/>
                    </a:solidFill>
                  </a:tcPr>
                </a:tc>
              </a:tr>
              <a:tr h="548640">
                <a:tc>
                  <a:txBody>
                    <a:bodyPr/>
                    <a:lstStyle/>
                    <a:p>
                      <a:pPr>
                        <a:defRPr sz="1000" b="1">
                          <a:solidFill>
                            <a:srgbClr val="002B66"/>
                          </a:solidFill>
                        </a:defRPr>
                      </a:pPr>
                      <a:r>
                        <a:t>7. traslados</a:t>
                      </a:r>
                    </a:p>
                  </a:txBody>
                  <a:tcPr>
                    <a:solidFill>
                      <a:srgbClr val="FFFFFF"/>
                    </a:solidFill>
                  </a:tcPr>
                </a:tc>
                <a:tc>
                  <a:txBody>
                    <a:bodyPr/>
                    <a:lstStyle/>
                    <a:p>
                      <a:pPr>
                        <a:defRPr sz="1000" b="0">
                          <a:solidFill>
                            <a:srgbClr val="0F172A"/>
                          </a:solidFill>
                        </a:defRPr>
                      </a:pPr>
                      <a:r>
                        <a:t>id, codigo_traslado UNIQUE, origen_id, destino_id, guia_remision</a:t>
                      </a:r>
                    </a:p>
                  </a:txBody>
                  <a:tcPr>
                    <a:solidFill>
                      <a:srgbClr val="FFFFFF"/>
                    </a:solidFill>
                  </a:tcPr>
                </a:tc>
                <a:tc>
                  <a:txBody>
                    <a:bodyPr/>
                    <a:lstStyle/>
                    <a:p>
                      <a:pPr>
                        <a:defRPr sz="1000" b="0">
                          <a:solidFill>
                            <a:srgbClr val="0F172A"/>
                          </a:solidFill>
                        </a:defRPr>
                      </a:pPr>
                      <a:r>
                        <a:t>idx_traslados_estado. Guía de Remisión Electrónica GRE SUNAT.</a:t>
                      </a:r>
                    </a:p>
                  </a:txBody>
                  <a:tcPr>
                    <a:solidFill>
                      <a:srgbClr val="FFFFFF"/>
                    </a:solidFill>
                  </a:tcPr>
                </a:tc>
              </a:tr>
              <a:tr h="548640">
                <a:tc>
                  <a:txBody>
                    <a:bodyPr/>
                    <a:lstStyle/>
                    <a:p>
                      <a:pPr>
                        <a:defRPr sz="1000" b="1">
                          <a:solidFill>
                            <a:srgbClr val="002B66"/>
                          </a:solidFill>
                        </a:defRPr>
                      </a:pPr>
                      <a:r>
                        <a:t>8. auditoria_eventos</a:t>
                      </a:r>
                    </a:p>
                  </a:txBody>
                  <a:tcPr>
                    <a:solidFill>
                      <a:srgbClr val="F1F5F9"/>
                    </a:solidFill>
                  </a:tcPr>
                </a:tc>
                <a:tc>
                  <a:txBody>
                    <a:bodyPr/>
                    <a:lstStyle/>
                    <a:p>
                      <a:pPr>
                        <a:defRPr sz="1000" b="0">
                          <a:solidFill>
                            <a:srgbClr val="0F172A"/>
                          </a:solidFill>
                        </a:defRPr>
                      </a:pPr>
                      <a:r>
                        <a:t>id, usuario_id, username, accion, ip_origen, fecha_hora</a:t>
                      </a:r>
                    </a:p>
                  </a:txBody>
                  <a:tcPr>
                    <a:solidFill>
                      <a:srgbClr val="F1F5F9"/>
                    </a:solidFill>
                  </a:tcPr>
                </a:tc>
                <a:tc>
                  <a:txBody>
                    <a:bodyPr/>
                    <a:lstStyle/>
                    <a:p>
                      <a:pPr>
                        <a:defRPr sz="1000" b="0">
                          <a:solidFill>
                            <a:srgbClr val="0F172A"/>
                          </a:solidFill>
                        </a:defRPr>
                      </a:pPr>
                      <a:r>
                        <a:t>idx_auditoria_fecha. Trazabilidad completa con Logback.</a:t>
                      </a:r>
                    </a:p>
                  </a:txBody>
                  <a:tcPr>
                    <a:solidFill>
                      <a:srgbClr val="F1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MÓDULO DE AUTENTICACIÓN Y SEGURIDAD</a:t>
            </a:r>
          </a:p>
          <a:p>
            <a:pPr>
              <a:spcBef>
                <a:spcPts val="200"/>
              </a:spcBef>
              <a:defRPr sz="2200" b="1">
                <a:solidFill>
                  <a:srgbClr val="FFFFFF"/>
                </a:solidFill>
              </a:defRPr>
            </a:pPr>
            <a:r>
              <a:t>Acceso Seguro con PostgreSQL y BCrypt (CU01)</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Persistencia en PostgreSQL: </a:t>
            </a:r>
            <a:r>
              <a:rPr sz="1000" b="0">
                <a:solidFill>
                  <a:srgbClr val="64748B"/>
                </a:solidFill>
              </a:rPr>
              <a:t>Validación contra la tabla 'usuarios' con hash BCrypt de alta seguridad ($2a$10$).</a:t>
            </a:r>
          </a:p>
          <a:p>
            <a:pPr>
              <a:spcBef>
                <a:spcPts val="1000"/>
              </a:spcBef>
              <a:defRPr sz="1100" b="1">
                <a:solidFill>
                  <a:srgbClr val="0F172A"/>
                </a:solidFill>
              </a:defRPr>
            </a:pPr>
            <a:r>
              <a:t>✔ Bloqueo a los 5 Intentos (Guava): </a:t>
            </a:r>
            <a:r>
              <a:rPr sz="1000" b="0">
                <a:solidFill>
                  <a:srgbClr val="64748B"/>
                </a:solidFill>
              </a:rPr>
              <a:t>Rate limiting en memoria que inhabilita temporalmente la cuenta por 15 minutos.</a:t>
            </a:r>
          </a:p>
          <a:p>
            <a:pPr>
              <a:spcBef>
                <a:spcPts val="1000"/>
              </a:spcBef>
              <a:defRPr sz="1100" b="1">
                <a:solidFill>
                  <a:srgbClr val="0F172A"/>
                </a:solidFill>
              </a:defRPr>
            </a:pPr>
            <a:r>
              <a:t>✔ Cumplimiento Ley 29733: </a:t>
            </a:r>
            <a:r>
              <a:rPr sz="1000" b="0">
                <a:solidFill>
                  <a:srgbClr val="64748B"/>
                </a:solidFill>
              </a:rPr>
              <a:t>Consentimiento explícito de tratamiento de datos personales y banner de cookies.</a:t>
            </a:r>
          </a:p>
          <a:p>
            <a:pPr>
              <a:spcBef>
                <a:spcPts val="1000"/>
              </a:spcBef>
              <a:defRPr sz="1100" b="1">
                <a:solidFill>
                  <a:srgbClr val="0F172A"/>
                </a:solidFill>
              </a:defRPr>
            </a:pPr>
            <a:r>
              <a:t>✔ Auditoría en Logback: </a:t>
            </a:r>
            <a:r>
              <a:rPr sz="1000" b="0">
                <a:solidFill>
                  <a:srgbClr val="64748B"/>
                </a:solidFill>
              </a:rPr>
              <a:t>Registro en logs/siip-security-audit.log de cada intento exitoso o fallido.</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login.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DASHBOARD OPERATIVO Y MÉTRICAS</a:t>
            </a:r>
          </a:p>
          <a:p>
            <a:pPr>
              <a:spcBef>
                <a:spcPts val="200"/>
              </a:spcBef>
              <a:defRPr sz="2200" b="1">
                <a:solidFill>
                  <a:srgbClr val="FFFFFF"/>
                </a:solidFill>
              </a:defRPr>
            </a:pPr>
            <a:r>
              <a:t>Panel de Control Ejecutivo &amp; Red de 15 Sedes</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Visibilidad en Tiempo Real: </a:t>
            </a:r>
            <a:r>
              <a:rPr sz="1000" b="0">
                <a:solidFill>
                  <a:srgbClr val="64748B"/>
                </a:solidFill>
              </a:rPr>
              <a:t>Monitoreo del inventario total valorizado en soles (PEN) en toda la cadena.</a:t>
            </a:r>
          </a:p>
          <a:p>
            <a:pPr>
              <a:spcBef>
                <a:spcPts val="1000"/>
              </a:spcBef>
              <a:defRPr sz="1100" b="1">
                <a:solidFill>
                  <a:srgbClr val="0F172A"/>
                </a:solidFill>
              </a:defRPr>
            </a:pPr>
            <a:r>
              <a:t>✔ Indicador de Quiebres Críticos: </a:t>
            </a:r>
            <a:r>
              <a:rPr sz="1000" b="0">
                <a:solidFill>
                  <a:srgbClr val="64748B"/>
                </a:solidFill>
              </a:rPr>
              <a:t>Alerta temprana de ítems en stock cero o próximo a agotarse con semaforización.</a:t>
            </a:r>
          </a:p>
          <a:p>
            <a:pPr>
              <a:spcBef>
                <a:spcPts val="1000"/>
              </a:spcBef>
              <a:defRPr sz="1100" b="1">
                <a:solidFill>
                  <a:srgbClr val="0F172A"/>
                </a:solidFill>
              </a:defRPr>
            </a:pPr>
            <a:r>
              <a:t>✔ Trazabilidad de Traslados: </a:t>
            </a:r>
            <a:r>
              <a:rPr sz="1000" b="0">
                <a:solidFill>
                  <a:srgbClr val="64748B"/>
                </a:solidFill>
              </a:rPr>
              <a:t>Contador de órdenes de transferencia pendientes, despachadas y recepcionadas.</a:t>
            </a:r>
          </a:p>
          <a:p>
            <a:pPr>
              <a:spcBef>
                <a:spcPts val="1000"/>
              </a:spcBef>
              <a:defRPr sz="1100" b="1">
                <a:solidFill>
                  <a:srgbClr val="0F172A"/>
                </a:solidFill>
              </a:defRPr>
            </a:pPr>
            <a:r>
              <a:t>✔ Repositorio Cloudflare R2: </a:t>
            </a:r>
            <a:r>
              <a:rPr sz="1000" b="0">
                <a:solidFill>
                  <a:srgbClr val="64748B"/>
                </a:solidFill>
              </a:rPr>
              <a:t>Verificación del bucket público para almacenamiento de fichas técnicas.</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2_dashboard.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MÓDULO DE INVENTARIO GEOCERCANO</a:t>
            </a:r>
          </a:p>
          <a:p>
            <a:pPr>
              <a:spcBef>
                <a:spcPts val="200"/>
              </a:spcBef>
              <a:defRPr sz="2200" b="1">
                <a:solidFill>
                  <a:srgbClr val="FFFFFF"/>
                </a:solidFill>
              </a:defRPr>
            </a:pPr>
            <a:r>
              <a:t>Búsqueda Inteligente e Inventario Geocercano (CU02)</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Algoritmo Haversine: </a:t>
            </a:r>
            <a:r>
              <a:rPr sz="1000" b="0">
                <a:solidFill>
                  <a:srgbClr val="64748B"/>
                </a:solidFill>
              </a:rPr>
              <a:t>Cálculo geodésico exacto en kilómetros entre la sede del paciente y sedes donantes (&lt;10km).</a:t>
            </a:r>
          </a:p>
          <a:p>
            <a:pPr>
              <a:spcBef>
                <a:spcPts val="1000"/>
              </a:spcBef>
              <a:defRPr sz="1100" b="1">
                <a:solidFill>
                  <a:srgbClr val="0F172A"/>
                </a:solidFill>
              </a:defRPr>
            </a:pPr>
            <a:r>
              <a:t>✔ Red Nacional de 15 Sedes: </a:t>
            </a:r>
            <a:r>
              <a:rPr sz="1000" b="0">
                <a:solidFill>
                  <a:srgbClr val="64748B"/>
                </a:solidFill>
              </a:rPr>
              <a:t>Cobertura completa en Lima, Arequipa, Cusco, Trujillo, Chiclayo y Huancayo.</a:t>
            </a:r>
          </a:p>
          <a:p>
            <a:pPr>
              <a:spcBef>
                <a:spcPts val="1000"/>
              </a:spcBef>
              <a:defRPr sz="1100" b="1">
                <a:solidFill>
                  <a:srgbClr val="0F172A"/>
                </a:solidFill>
              </a:defRPr>
            </a:pPr>
            <a:r>
              <a:t>✔ Filtros Macrorregionales: </a:t>
            </a:r>
            <a:r>
              <a:rPr sz="1000" b="0">
                <a:solidFill>
                  <a:srgbClr val="64748B"/>
                </a:solidFill>
              </a:rPr>
              <a:t>Segmentación rápida por Norte, Centro, Sur y Lima con buscador por distrito.</a:t>
            </a:r>
          </a:p>
          <a:p>
            <a:pPr>
              <a:spcBef>
                <a:spcPts val="1000"/>
              </a:spcBef>
              <a:defRPr sz="1100" b="1">
                <a:solidFill>
                  <a:srgbClr val="0F172A"/>
                </a:solidFill>
              </a:defRPr>
            </a:pPr>
            <a:r>
              <a:t>✔ Doble Acción Inmediata: </a:t>
            </a:r>
            <a:r>
              <a:rPr sz="1000" b="0">
                <a:solidFill>
                  <a:srgbClr val="64748B"/>
                </a:solidFill>
              </a:rPr>
              <a:t>Botón directo 'Ruta &amp; Mapa' para orientar al paciente y 'Solicitar Traslado'.</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3_inventario_geocercano.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MÓDULO DE COMPENSACIÓN DE STOCK</a:t>
            </a:r>
          </a:p>
          <a:p>
            <a:pPr>
              <a:spcBef>
                <a:spcPts val="200"/>
              </a:spcBef>
              <a:defRPr sz="2200" b="1">
                <a:solidFill>
                  <a:srgbClr val="FFFFFF"/>
                </a:solidFill>
              </a:defRPr>
            </a:pPr>
            <a:r>
              <a:t>Solicitud de Traslado Inter-Sedes con IA (CU03)</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Lote Sugerido por IA: </a:t>
            </a:r>
            <a:r>
              <a:rPr sz="1000" b="0">
                <a:solidFill>
                  <a:srgbClr val="64748B"/>
                </a:solidFill>
              </a:rPr>
              <a:t>Cálculo algorítmico que optimiza el stock receptor sin desabastecer la sede donante.</a:t>
            </a:r>
          </a:p>
          <a:p>
            <a:pPr>
              <a:spcBef>
                <a:spcPts val="1000"/>
              </a:spcBef>
              <a:defRPr sz="1100" b="1">
                <a:solidFill>
                  <a:srgbClr val="0F172A"/>
                </a:solidFill>
              </a:defRPr>
            </a:pPr>
            <a:r>
              <a:t>✔ Simulación Antes ➔ Después: </a:t>
            </a:r>
            <a:r>
              <a:rPr sz="1000" b="0">
                <a:solidFill>
                  <a:srgbClr val="64748B"/>
                </a:solidFill>
              </a:rPr>
              <a:t>Proyección visual del saldo restante en origen y el nuevo stock en destino.</a:t>
            </a:r>
          </a:p>
          <a:p>
            <a:pPr>
              <a:spcBef>
                <a:spcPts val="1000"/>
              </a:spcBef>
              <a:defRPr sz="1100" b="1">
                <a:solidFill>
                  <a:srgbClr val="0F172A"/>
                </a:solidFill>
              </a:defRPr>
            </a:pPr>
            <a:r>
              <a:t>✔ Valoración Económica Automática: </a:t>
            </a:r>
            <a:r>
              <a:rPr sz="1000" b="0">
                <a:solidFill>
                  <a:srgbClr val="64748B"/>
                </a:solidFill>
              </a:rPr>
              <a:t>Cálculo del costo total en soles (S/ PEN) del lote para control de mermas.</a:t>
            </a:r>
          </a:p>
          <a:p>
            <a:pPr>
              <a:spcBef>
                <a:spcPts val="1000"/>
              </a:spcBef>
              <a:defRPr sz="1100" b="1">
                <a:solidFill>
                  <a:srgbClr val="0F172A"/>
                </a:solidFill>
              </a:defRPr>
            </a:pPr>
            <a:r>
              <a:t>✔ Priorización Operativa: </a:t>
            </a:r>
            <a:r>
              <a:rPr sz="1000" b="0">
                <a:solidFill>
                  <a:srgbClr val="64748B"/>
                </a:solidFill>
              </a:rPr>
              <a:t>Opciones de despacho Normal (4h), Urgente (1-2h) o Crítico Express.</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4_modal_solicitar_traslado.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MÓDULO DE EXPERIENCIA DEL PACIENTE</a:t>
            </a:r>
          </a:p>
          <a:p>
            <a:pPr>
              <a:spcBef>
                <a:spcPts val="200"/>
              </a:spcBef>
              <a:defRPr sz="2200" b="1">
                <a:solidFill>
                  <a:srgbClr val="FFFFFF"/>
                </a:solidFill>
              </a:defRPr>
            </a:pPr>
            <a:r>
              <a:t>Minimapa de Orientación y Guía WhatsApp al Paciente</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Geolocalización Dinámica OSM: </a:t>
            </a:r>
            <a:r>
              <a:rPr sz="1000" b="0">
                <a:solidFill>
                  <a:srgbClr val="64748B"/>
                </a:solidFill>
              </a:rPr>
              <a:t>Minimapa interactivo OpenStreetMap centrado en las coordenadas de la botica donante.</a:t>
            </a:r>
          </a:p>
          <a:p>
            <a:pPr>
              <a:spcBef>
                <a:spcPts val="1000"/>
              </a:spcBef>
              <a:defRPr sz="1100" b="1">
                <a:solidFill>
                  <a:srgbClr val="0F172A"/>
                </a:solidFill>
              </a:defRPr>
            </a:pPr>
            <a:r>
              <a:t>✔ Estimación de Tiempos: </a:t>
            </a:r>
            <a:r>
              <a:rPr sz="1000" b="0">
                <a:solidFill>
                  <a:srgbClr val="64748B"/>
                </a:solidFill>
              </a:rPr>
              <a:t>Cálculo del tiempo promedio en automóvil y a pie hacia la sucursal con stock.</a:t>
            </a:r>
          </a:p>
          <a:p>
            <a:pPr>
              <a:spcBef>
                <a:spcPts val="1000"/>
              </a:spcBef>
              <a:defRPr sz="1100" b="1">
                <a:solidFill>
                  <a:srgbClr val="0F172A"/>
                </a:solidFill>
              </a:defRPr>
            </a:pPr>
            <a:r>
              <a:t>✔ Generador WhatsApp: </a:t>
            </a:r>
            <a:r>
              <a:rPr sz="1000" b="0">
                <a:solidFill>
                  <a:srgbClr val="64748B"/>
                </a:solidFill>
              </a:rPr>
              <a:t>Copia formal con dirección, referencia, stock y enlace a Google Maps para el paciente.</a:t>
            </a:r>
          </a:p>
          <a:p>
            <a:pPr>
              <a:spcBef>
                <a:spcPts val="1000"/>
              </a:spcBef>
              <a:defRPr sz="1100" b="1">
                <a:solidFill>
                  <a:srgbClr val="0F172A"/>
                </a:solidFill>
              </a:defRPr>
            </a:pPr>
            <a:r>
              <a:t>✔ No Pérdida de Venta: </a:t>
            </a:r>
            <a:r>
              <a:rPr sz="1000" b="0">
                <a:solidFill>
                  <a:srgbClr val="64748B"/>
                </a:solidFill>
              </a:rPr>
              <a:t>Garantiza que el paciente encuentre su medicina en la misma cadena en &lt;10 minutos.</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5_modal_ruta_mapa.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MÓDULO DE GESTIÓN DE PRODUCTOS</a:t>
            </a:r>
          </a:p>
          <a:p>
            <a:pPr>
              <a:spcBef>
                <a:spcPts val="200"/>
              </a:spcBef>
              <a:defRPr sz="2200" b="1">
                <a:solidFill>
                  <a:srgbClr val="FFFFFF"/>
                </a:solidFill>
              </a:defRPr>
            </a:pPr>
            <a:r>
              <a:t>Gestión de Catálogo y Productos Farmacéuticos</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Catálogo Multicategoría: </a:t>
            </a:r>
            <a:r>
              <a:rPr sz="1000" b="0">
                <a:solidFill>
                  <a:srgbClr val="64748B"/>
                </a:solidFill>
              </a:rPr>
              <a:t>Antibióticos, Analgésicos, Antiinflamatorios y Oncológicos con EAN-13 y CAN DIGEMID.</a:t>
            </a:r>
          </a:p>
          <a:p>
            <a:pPr>
              <a:spcBef>
                <a:spcPts val="1000"/>
              </a:spcBef>
              <a:defRPr sz="1100" b="1">
                <a:solidFill>
                  <a:srgbClr val="0F172A"/>
                </a:solidFill>
              </a:defRPr>
            </a:pPr>
            <a:r>
              <a:t>✔ Clasificación Marca vs Genérico: </a:t>
            </a:r>
            <a:r>
              <a:rPr sz="1000" b="0">
                <a:solidFill>
                  <a:srgbClr val="64748B"/>
                </a:solidFill>
              </a:rPr>
              <a:t>Filtro para cumplir con la política nacional de disponibilidad de genéricos.</a:t>
            </a:r>
          </a:p>
          <a:p>
            <a:pPr>
              <a:spcBef>
                <a:spcPts val="1000"/>
              </a:spcBef>
              <a:defRPr sz="1100" b="1">
                <a:solidFill>
                  <a:srgbClr val="0F172A"/>
                </a:solidFill>
              </a:defRPr>
            </a:pPr>
            <a:r>
              <a:t>✔ Ajuste de Stock Auditado: </a:t>
            </a:r>
            <a:r>
              <a:rPr sz="1000" b="0">
                <a:solidFill>
                  <a:srgbClr val="64748B"/>
                </a:solidFill>
              </a:rPr>
              <a:t>Registro de ingresos físicos, regularizaciones y mermas con motivo justificado.</a:t>
            </a:r>
          </a:p>
          <a:p>
            <a:pPr>
              <a:spcBef>
                <a:spcPts val="1000"/>
              </a:spcBef>
              <a:defRPr sz="1100" b="1">
                <a:solidFill>
                  <a:srgbClr val="0F172A"/>
                </a:solidFill>
              </a:defRPr>
            </a:pPr>
            <a:r>
              <a:t>✔ Conexión con Kardex FEFO: </a:t>
            </a:r>
            <a:r>
              <a:rPr sz="1000" b="0">
                <a:solidFill>
                  <a:srgbClr val="64748B"/>
                </a:solidFill>
              </a:rPr>
              <a:t>Acceso directo a la hoja de vida, historial de movimientos y lotes de cada fármaco.</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6_gestion_productos.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AUDITORÍA Y BUENAS PRÁCTICAS FARMACÉUTICAS</a:t>
            </a:r>
          </a:p>
          <a:p>
            <a:pPr>
              <a:spcBef>
                <a:spcPts val="200"/>
              </a:spcBef>
              <a:defRPr sz="2200" b="1">
                <a:solidFill>
                  <a:srgbClr val="FFFFFF"/>
                </a:solidFill>
              </a:defRPr>
            </a:pPr>
            <a:r>
              <a:t>Trazabilidad por Lote y Kardex FEFO (BPA DIGEMID)</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Principio FEFO: </a:t>
            </a:r>
            <a:r>
              <a:rPr sz="1000" b="0">
                <a:solidFill>
                  <a:srgbClr val="64748B"/>
                </a:solidFill>
              </a:rPr>
              <a:t>Garantiza la salida prioritaria de lotes con fecha de vencimiento más próxima.</a:t>
            </a:r>
          </a:p>
          <a:p>
            <a:pPr>
              <a:spcBef>
                <a:spcPts val="1000"/>
              </a:spcBef>
              <a:defRPr sz="1100" b="1">
                <a:solidFill>
                  <a:srgbClr val="0F172A"/>
                </a:solidFill>
              </a:defRPr>
            </a:pPr>
            <a:r>
              <a:t>✔ Registro de Lote y Sanitario: </a:t>
            </a:r>
            <a:r>
              <a:rPr sz="1000" b="0">
                <a:solidFill>
                  <a:srgbClr val="64748B"/>
                </a:solidFill>
              </a:rPr>
              <a:t>Trazabilidad con código de lote del fabricante y registro sanitario oficial.</a:t>
            </a:r>
          </a:p>
          <a:p>
            <a:pPr>
              <a:spcBef>
                <a:spcPts val="1000"/>
              </a:spcBef>
              <a:defRPr sz="1100" b="1">
                <a:solidFill>
                  <a:srgbClr val="0F172A"/>
                </a:solidFill>
              </a:defRPr>
            </a:pPr>
            <a:r>
              <a:t>✔ Historial Cronológico: </a:t>
            </a:r>
            <a:r>
              <a:rPr sz="1000" b="0">
                <a:solidFill>
                  <a:srgbClr val="64748B"/>
                </a:solidFill>
              </a:rPr>
              <a:t>Auditoría de Entradas, Salidas por Venta y Traslados con usuario responsable.</a:t>
            </a:r>
          </a:p>
          <a:p>
            <a:pPr>
              <a:spcBef>
                <a:spcPts val="1000"/>
              </a:spcBef>
              <a:defRPr sz="1100" b="1">
                <a:solidFill>
                  <a:srgbClr val="0F172A"/>
                </a:solidFill>
              </a:defRPr>
            </a:pPr>
            <a:r>
              <a:t>✔ Certificación DIGEMID: </a:t>
            </a:r>
            <a:r>
              <a:rPr sz="1000" b="0">
                <a:solidFill>
                  <a:srgbClr val="64748B"/>
                </a:solidFill>
              </a:rPr>
              <a:t>Cumplimiento estricto del Manual de BPA aprobado por R.M. N° 833-2015/MINSA.</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7_modal_kardex_trazabilidad.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MÓDULO DE GESTIÓN DE SEDES</a:t>
            </a:r>
          </a:p>
          <a:p>
            <a:pPr>
              <a:spcBef>
                <a:spcPts val="200"/>
              </a:spcBef>
              <a:defRPr sz="2200" b="1">
                <a:solidFill>
                  <a:srgbClr val="FFFFFF"/>
                </a:solidFill>
              </a:defRPr>
            </a:pPr>
            <a:r>
              <a:t>Administración Centralizada de 15 Sedes en el Perú</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Distribución Geográfica Nacional: </a:t>
            </a:r>
            <a:r>
              <a:rPr sz="1000" b="0">
                <a:solidFill>
                  <a:srgbClr val="64748B"/>
                </a:solidFill>
              </a:rPr>
              <a:t>10 sedes en Lima Metropolitana y Callao + 5 sedes en Arequipa, Cusco, Trujillo, Chiclayo y Huancayo.</a:t>
            </a:r>
          </a:p>
          <a:p>
            <a:pPr>
              <a:spcBef>
                <a:spcPts val="1000"/>
              </a:spcBef>
              <a:defRPr sz="1100" b="1">
                <a:solidFill>
                  <a:srgbClr val="0F172A"/>
                </a:solidFill>
              </a:defRPr>
            </a:pPr>
            <a:r>
              <a:t>✔ Ficha Técnica 360°: </a:t>
            </a:r>
            <a:r>
              <a:rPr sz="1000" b="0">
                <a:solidFill>
                  <a:srgbClr val="64748B"/>
                </a:solidFill>
              </a:rPr>
              <a:t>Dirección exacta, teléfono, horario de atención y Director Técnico colegiado.</a:t>
            </a:r>
          </a:p>
          <a:p>
            <a:pPr>
              <a:spcBef>
                <a:spcPts val="1000"/>
              </a:spcBef>
              <a:defRPr sz="1100" b="1">
                <a:solidFill>
                  <a:srgbClr val="0F172A"/>
                </a:solidFill>
              </a:defRPr>
            </a:pPr>
            <a:r>
              <a:t>✔ Métricas Operativas: </a:t>
            </a:r>
            <a:r>
              <a:rPr sz="1000" b="0">
                <a:solidFill>
                  <a:srgbClr val="64748B"/>
                </a:solidFill>
              </a:rPr>
              <a:t>Monitoreo del total de medicamentos, stock crítico y balance de transferencias.</a:t>
            </a:r>
          </a:p>
          <a:p>
            <a:pPr>
              <a:spcBef>
                <a:spcPts val="1000"/>
              </a:spcBef>
              <a:defRPr sz="1100" b="1">
                <a:solidFill>
                  <a:srgbClr val="0F172A"/>
                </a:solidFill>
              </a:defRPr>
            </a:pPr>
            <a:r>
              <a:t>✔ Filtros por Cadena: </a:t>
            </a:r>
            <a:r>
              <a:rPr sz="1000" b="0">
                <a:solidFill>
                  <a:srgbClr val="64748B"/>
                </a:solidFill>
              </a:rPr>
              <a:t>Clasificación instantánea entre InkaFarma, Mifarma y CD Huachipa.</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8_gestion_sedes.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MÓDULO DE INTELIGENCIA PREDICTIVA</a:t>
            </a:r>
          </a:p>
          <a:p>
            <a:pPr>
              <a:spcBef>
                <a:spcPts val="200"/>
              </a:spcBef>
              <a:defRPr sz="2200" b="1">
                <a:solidFill>
                  <a:srgbClr val="FFFFFF"/>
                </a:solidFill>
              </a:defRPr>
            </a:pPr>
            <a:r>
              <a:t>Motor de Alertas Predictivas de Demanda con IA (CU04)</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Consumo Diario Promedio: </a:t>
            </a:r>
            <a:r>
              <a:rPr sz="1000" b="0">
                <a:solidFill>
                  <a:srgbClr val="64748B"/>
                </a:solidFill>
              </a:rPr>
              <a:t>Algoritmo estadístico que analiza la dispensación para estimar la tasa diaria de salida.</a:t>
            </a:r>
          </a:p>
          <a:p>
            <a:pPr>
              <a:spcBef>
                <a:spcPts val="1000"/>
              </a:spcBef>
              <a:defRPr sz="1100" b="1">
                <a:solidFill>
                  <a:srgbClr val="0F172A"/>
                </a:solidFill>
              </a:defRPr>
            </a:pPr>
            <a:r>
              <a:t>✔ Predicción de Quiebre a 7 Días: </a:t>
            </a:r>
            <a:r>
              <a:rPr sz="1000" b="0">
                <a:solidFill>
                  <a:srgbClr val="64748B"/>
                </a:solidFill>
              </a:rPr>
              <a:t>Identifica fármacos que agotarán existencias en menos de 7 días preventivamente.</a:t>
            </a:r>
          </a:p>
          <a:p>
            <a:pPr>
              <a:spcBef>
                <a:spcPts val="1000"/>
              </a:spcBef>
              <a:defRPr sz="1100" b="1">
                <a:solidFill>
                  <a:srgbClr val="0F172A"/>
                </a:solidFill>
              </a:defRPr>
            </a:pPr>
            <a:r>
              <a:t>✔ Autonomía Operativa en Días: </a:t>
            </a:r>
            <a:r>
              <a:rPr sz="1000" b="0">
                <a:solidFill>
                  <a:srgbClr val="64748B"/>
                </a:solidFill>
              </a:rPr>
              <a:t>Calcula la cantidad de días de cobertura restante por sucursal.</a:t>
            </a:r>
          </a:p>
          <a:p>
            <a:pPr>
              <a:spcBef>
                <a:spcPts val="1000"/>
              </a:spcBef>
              <a:defRPr sz="1100" b="1">
                <a:solidFill>
                  <a:srgbClr val="0F172A"/>
                </a:solidFill>
              </a:defRPr>
            </a:pPr>
            <a:r>
              <a:t>✔ Acción Inmediata: </a:t>
            </a:r>
            <a:r>
              <a:rPr sz="1000" b="0">
                <a:solidFill>
                  <a:srgbClr val="64748B"/>
                </a:solidFill>
              </a:rPr>
              <a:t>Generación preventiva de traslados inter-sedes con un clic desde el panel de alertas.</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9_alertas_predictivas.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91695" cy="36576"/>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789920" y="228600"/>
            <a:ext cx="914400" cy="502920"/>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FFFFFF"/>
                </a:solidFill>
              </a:defRPr>
            </a:pPr>
            <a:r>
              <a:t>UTP</a:t>
            </a:r>
          </a:p>
        </p:txBody>
      </p:sp>
      <p:sp>
        <p:nvSpPr>
          <p:cNvPr id="6" name="TextBox 5"/>
          <p:cNvSpPr txBox="1"/>
          <p:nvPr/>
        </p:nvSpPr>
        <p:spPr>
          <a:xfrm>
            <a:off x="548640" y="109728"/>
            <a:ext cx="10058400" cy="777240"/>
          </a:xfrm>
          <a:prstGeom prst="rect">
            <a:avLst/>
          </a:prstGeom>
          <a:noFill/>
        </p:spPr>
        <p:txBody>
          <a:bodyPr wrap="square">
            <a:spAutoFit/>
          </a:bodyPr>
          <a:lstStyle/>
          <a:p>
            <a:pPr>
              <a:defRPr sz="1000" b="1">
                <a:solidFill>
                  <a:srgbClr val="FFD100"/>
                </a:solidFill>
              </a:defRPr>
            </a:pPr>
            <a:r>
              <a:t>MÓDULO DE LOGÍSTICA Y TRIBUTACIÓN</a:t>
            </a:r>
          </a:p>
          <a:p>
            <a:pPr>
              <a:spcBef>
                <a:spcPts val="200"/>
              </a:spcBef>
              <a:defRPr sz="2200" b="1">
                <a:solidFill>
                  <a:srgbClr val="FFFFFF"/>
                </a:solidFill>
              </a:defRPr>
            </a:pPr>
            <a:r>
              <a:t>Bandeja de Traslados y Guía de Remisión GRE SUNAT (CU05)</a:t>
            </a:r>
          </a:p>
        </p:txBody>
      </p:sp>
      <p:sp>
        <p:nvSpPr>
          <p:cNvPr id="7" name="TextBox 6"/>
          <p:cNvSpPr txBox="1"/>
          <p:nvPr/>
        </p:nvSpPr>
        <p:spPr>
          <a:xfrm>
            <a:off x="548640" y="6565392"/>
            <a:ext cx="10972800" cy="256032"/>
          </a:xfrm>
          <a:prstGeom prst="rect">
            <a:avLst/>
          </a:prstGeom>
          <a:noFill/>
        </p:spPr>
        <p:txBody>
          <a:bodyPr wrap="none">
            <a:spAutoFit/>
          </a:bodyPr>
          <a:lstStyle/>
          <a:p>
            <a:pPr>
              <a:defRPr sz="850">
                <a:solidFill>
                  <a:srgbClr val="64748B"/>
                </a:solidFill>
              </a:defRPr>
            </a:pPr>
            <a:r>
              <a:t>CURSO INTEGRADOR I: SISTEMAS - SOFTWARE • AVANCE 3 • UTP 2026 • Mendoza Paucar Ronny (U25302314)</a:t>
            </a:r>
          </a:p>
        </p:txBody>
      </p:sp>
      <p:sp>
        <p:nvSpPr>
          <p:cNvPr id="8" name="Rounded Rectangle 7"/>
          <p:cNvSpPr/>
          <p:nvPr/>
        </p:nvSpPr>
        <p:spPr>
          <a:xfrm>
            <a:off x="548640" y="1188720"/>
            <a:ext cx="4114800" cy="5303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749039" cy="4937760"/>
          </a:xfrm>
          <a:prstGeom prst="rect">
            <a:avLst/>
          </a:prstGeom>
          <a:noFill/>
        </p:spPr>
        <p:txBody>
          <a:bodyPr wrap="square">
            <a:spAutoFit/>
          </a:bodyPr>
          <a:lstStyle/>
          <a:p>
            <a:pPr>
              <a:defRPr sz="1300" b="1">
                <a:solidFill>
                  <a:srgbClr val="002B66"/>
                </a:solidFill>
              </a:defRPr>
            </a:pPr>
            <a:r>
              <a:t>🎯 Criterios y Verificación de Prueba:</a:t>
            </a:r>
          </a:p>
          <a:p>
            <a:pPr>
              <a:spcBef>
                <a:spcPts val="1000"/>
              </a:spcBef>
              <a:defRPr sz="1100" b="1">
                <a:solidFill>
                  <a:srgbClr val="0F172A"/>
                </a:solidFill>
              </a:defRPr>
            </a:pPr>
            <a:r>
              <a:t>✔ Flujo de Estados Operativos: </a:t>
            </a:r>
            <a:r>
              <a:rPr sz="1000" b="0">
                <a:solidFill>
                  <a:srgbClr val="64748B"/>
                </a:solidFill>
              </a:rPr>
              <a:t>Seguimiento riguroso: PENDIENTE ➔ DESPACHADO ➔ EN TRÁNSITO ➔ COMPLETADO.</a:t>
            </a:r>
          </a:p>
          <a:p>
            <a:pPr>
              <a:spcBef>
                <a:spcPts val="1000"/>
              </a:spcBef>
              <a:defRPr sz="1100" b="1">
                <a:solidFill>
                  <a:srgbClr val="0F172A"/>
                </a:solidFill>
              </a:defRPr>
            </a:pPr>
            <a:r>
              <a:t>✔ Guía de Remisión (GRE): </a:t>
            </a:r>
            <a:r>
              <a:rPr sz="1000" b="0">
                <a:solidFill>
                  <a:srgbClr val="64748B"/>
                </a:solidFill>
              </a:rPr>
              <a:t>Cumplimiento SUNAT con serie correlativa, RUC transportista, placa y precinto.</a:t>
            </a:r>
          </a:p>
          <a:p>
            <a:pPr>
              <a:spcBef>
                <a:spcPts val="1000"/>
              </a:spcBef>
              <a:defRPr sz="1100" b="1">
                <a:solidFill>
                  <a:srgbClr val="0F172A"/>
                </a:solidFill>
              </a:defRPr>
            </a:pPr>
            <a:r>
              <a:t>✔ Código QR y Firma Fiscal: </a:t>
            </a:r>
            <a:r>
              <a:rPr sz="1000" b="0">
                <a:solidFill>
                  <a:srgbClr val="64748B"/>
                </a:solidFill>
              </a:rPr>
              <a:t>Generación del código QR de validación fiscal y trazabilidad de custodia.</a:t>
            </a:r>
          </a:p>
          <a:p>
            <a:pPr>
              <a:spcBef>
                <a:spcPts val="1000"/>
              </a:spcBef>
              <a:defRPr sz="1100" b="1">
                <a:solidFill>
                  <a:srgbClr val="0F172A"/>
                </a:solidFill>
              </a:defRPr>
            </a:pPr>
            <a:r>
              <a:t>✔ Recepción con Control de Calidad: </a:t>
            </a:r>
            <a:r>
              <a:rPr sz="1000" b="0">
                <a:solidFill>
                  <a:srgbClr val="64748B"/>
                </a:solidFill>
              </a:rPr>
              <a:t>Inspección de precintos íntegros y temperatura al recepcionar mercadería.</a:t>
            </a:r>
          </a:p>
        </p:txBody>
      </p:sp>
      <p:sp>
        <p:nvSpPr>
          <p:cNvPr id="10" name="Rectangle 9"/>
          <p:cNvSpPr/>
          <p:nvPr/>
        </p:nvSpPr>
        <p:spPr>
          <a:xfrm>
            <a:off x="4846320" y="1188720"/>
            <a:ext cx="6766560" cy="530352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0_gestion_traslados.png"/>
          <p:cNvPicPr>
            <a:picLocks noChangeAspect="1"/>
          </p:cNvPicPr>
          <p:nvPr/>
        </p:nvPicPr>
        <p:blipFill>
          <a:blip r:embed="rId2"/>
          <a:stretch>
            <a:fillRect/>
          </a:stretch>
        </p:blipFill>
        <p:spPr>
          <a:xfrm>
            <a:off x="4892040" y="1234440"/>
            <a:ext cx="6675120" cy="52120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65392"/>
            <a:ext cx="12191695" cy="292608"/>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332720" cy="5486400"/>
          </a:xfrm>
          <a:prstGeom prst="rect">
            <a:avLst/>
          </a:prstGeom>
          <a:noFill/>
        </p:spPr>
        <p:txBody>
          <a:bodyPr wrap="square">
            <a:spAutoFit/>
          </a:bodyPr>
          <a:lstStyle/>
          <a:p>
            <a:pPr>
              <a:defRPr sz="2600" b="1">
                <a:solidFill>
                  <a:srgbClr val="FFD100"/>
                </a:solidFill>
              </a:defRPr>
            </a:pPr>
            <a:r>
              <a:t>CONCLUSIONES Y VALIDACIÓN DEL SISTEMA SIIP (AVANCE 3)</a:t>
            </a:r>
          </a:p>
          <a:p>
            <a:pPr>
              <a:spcBef>
                <a:spcPts val="1200"/>
              </a:spcBef>
              <a:defRPr sz="1300" b="1">
                <a:solidFill>
                  <a:srgbClr val="FFFFFF"/>
                </a:solidFill>
              </a:defRPr>
            </a:pPr>
            <a:r>
              <a:t>✔ Cobertura Integral de Requisitos (RF-01 a RF-11)</a:t>
            </a:r>
            <a:br/>
            <a:r>
              <a:rPr sz="1100" b="0">
                <a:solidFill>
                  <a:srgbClr val="CBD5E1"/>
                </a:solidFill>
              </a:rPr>
              <a:t>   Todos los casos de uso (CU01 al CU05) han sido probados y validados con datos consistentes y flujos completos de inicio a fin.</a:t>
            </a:r>
          </a:p>
          <a:p>
            <a:pPr>
              <a:spcBef>
                <a:spcPts val="1200"/>
              </a:spcBef>
              <a:defRPr sz="1300" b="1">
                <a:solidFill>
                  <a:srgbClr val="FFFFFF"/>
                </a:solidFill>
              </a:defRPr>
            </a:pPr>
            <a:r>
              <a:t>✔ Arquitectura en 4 Capas Conforme a Estándares</a:t>
            </a:r>
            <a:br/>
            <a:r>
              <a:rPr sz="1100" b="0">
                <a:solidFill>
                  <a:srgbClr val="CBD5E1"/>
                </a:solidFill>
              </a:rPr>
              <a:t>   Separación estricta de responsabilidades (MVC, DAO, SOLID, TDD) asegurando mantenibilidad, bajo acoplamiento y alta cohesión.</a:t>
            </a:r>
          </a:p>
          <a:p>
            <a:pPr>
              <a:spcBef>
                <a:spcPts val="1200"/>
              </a:spcBef>
              <a:defRPr sz="1300" b="1">
                <a:solidFill>
                  <a:srgbClr val="FFFFFF"/>
                </a:solidFill>
              </a:defRPr>
            </a:pPr>
            <a:r>
              <a:t>✔ Integración de Librerías Requeridas</a:t>
            </a:r>
            <a:br/>
            <a:r>
              <a:rPr sz="1100" b="0">
                <a:solidFill>
                  <a:srgbClr val="CBD5E1"/>
                </a:solidFill>
              </a:rPr>
              <a:t>   Uso activo de Google Guava (bloqueo a los 5 intentos), Apache POI (exportación .xlsx), Apache Commons (sanitización) y Logback (auditoría).</a:t>
            </a:r>
          </a:p>
          <a:p>
            <a:pPr>
              <a:spcBef>
                <a:spcPts val="1200"/>
              </a:spcBef>
              <a:defRPr sz="1300" b="1">
                <a:solidFill>
                  <a:srgbClr val="FFFFFF"/>
                </a:solidFill>
              </a:defRPr>
            </a:pPr>
            <a:r>
              <a:t>✔ Seguridad y Autenticación PostgreSQL</a:t>
            </a:r>
            <a:br/>
            <a:r>
              <a:rPr sz="1100" b="0">
                <a:solidFill>
                  <a:srgbClr val="CBD5E1"/>
                </a:solidFill>
              </a:rPr>
              <a:t>   Almacenamiento seguro de credenciales con hash BCrypt, control de acceso por roles y persistencia relacional en 8 tablas normalizadas.</a:t>
            </a:r>
          </a:p>
          <a:p>
            <a:pPr>
              <a:spcBef>
                <a:spcPts val="1200"/>
              </a:spcBef>
              <a:defRPr sz="1300" b="1">
                <a:solidFill>
                  <a:srgbClr val="FFFFFF"/>
                </a:solidFill>
              </a:defRPr>
            </a:pPr>
            <a:r>
              <a:t>✔ Despliegue Contenerizado con Docker</a:t>
            </a:r>
            <a:br/>
            <a:r>
              <a:rPr sz="1100" b="0">
                <a:solidFill>
                  <a:srgbClr val="CBD5E1"/>
                </a:solidFill>
              </a:rPr>
              <a:t>   Entorno homogéneo y reproducible con Docker Compose, facilitando la ejecución independiente de microservicios y frontend.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